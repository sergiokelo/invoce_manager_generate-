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2" r:id="rId6"/>
    <p:sldId id="267" r:id="rId7"/>
    <p:sldId id="268" r:id="rId8"/>
    <p:sldId id="263" r:id="rId9"/>
    <p:sldId id="264" r:id="rId10"/>
    <p:sldId id="265" r:id="rId11"/>
    <p:sldId id="266" r:id="rId12"/>
    <p:sldId id="272" r:id="rId13"/>
    <p:sldId id="276" r:id="rId14"/>
    <p:sldId id="271" r:id="rId15"/>
    <p:sldId id="274" r:id="rId16"/>
    <p:sldId id="269"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0" autoAdjust="0"/>
    <p:restoredTop sz="94660"/>
  </p:normalViewPr>
  <p:slideViewPr>
    <p:cSldViewPr snapToGrid="0">
      <p:cViewPr varScale="1">
        <p:scale>
          <a:sx n="82" d="100"/>
          <a:sy n="82"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1B2C91-A613-4224-9F2C-85F7D795861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B069F69-37D0-4AAB-9F8E-7D36B9F549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D1C2078-4ED5-4A05-894D-2D7A53D196F3}"/>
              </a:ext>
            </a:extLst>
          </p:cNvPr>
          <p:cNvSpPr>
            <a:spLocks noGrp="1"/>
          </p:cNvSpPr>
          <p:nvPr>
            <p:ph type="dt" sz="half" idx="10"/>
          </p:nvPr>
        </p:nvSpPr>
        <p:spPr/>
        <p:txBody>
          <a:bodyPr/>
          <a:lstStyle/>
          <a:p>
            <a:fld id="{B43B846E-2209-4E8C-A2B6-1A72AD0A290D}" type="datetimeFigureOut">
              <a:rPr lang="fr-FR" smtClean="0"/>
              <a:t>24/04/2024</a:t>
            </a:fld>
            <a:endParaRPr lang="fr-FR"/>
          </a:p>
        </p:txBody>
      </p:sp>
      <p:sp>
        <p:nvSpPr>
          <p:cNvPr id="5" name="Espace réservé du pied de page 4">
            <a:extLst>
              <a:ext uri="{FF2B5EF4-FFF2-40B4-BE49-F238E27FC236}">
                <a16:creationId xmlns:a16="http://schemas.microsoft.com/office/drawing/2014/main" id="{E7CDC394-E467-46B0-8405-D60F09A894B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FBB3456-3F1D-41A3-9327-553DACC48BD1}"/>
              </a:ext>
            </a:extLst>
          </p:cNvPr>
          <p:cNvSpPr>
            <a:spLocks noGrp="1"/>
          </p:cNvSpPr>
          <p:nvPr>
            <p:ph type="sldNum" sz="quarter" idx="12"/>
          </p:nvPr>
        </p:nvSpPr>
        <p:spPr/>
        <p:txBody>
          <a:bodyPr/>
          <a:lstStyle/>
          <a:p>
            <a:fld id="{EE613918-9B8A-422F-A114-4F3EEC46909D}" type="slidenum">
              <a:rPr lang="fr-FR" smtClean="0"/>
              <a:t>‹N°›</a:t>
            </a:fld>
            <a:endParaRPr lang="fr-FR"/>
          </a:p>
        </p:txBody>
      </p:sp>
    </p:spTree>
    <p:extLst>
      <p:ext uri="{BB962C8B-B14F-4D97-AF65-F5344CB8AC3E}">
        <p14:creationId xmlns:p14="http://schemas.microsoft.com/office/powerpoint/2010/main" val="1405064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24F2B0-493F-4E1F-A066-10DCE72487B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50F9832-8AA0-4F68-8C02-14ABFA87581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3BC68B2-07D3-43F8-9387-F8A7422F7E25}"/>
              </a:ext>
            </a:extLst>
          </p:cNvPr>
          <p:cNvSpPr>
            <a:spLocks noGrp="1"/>
          </p:cNvSpPr>
          <p:nvPr>
            <p:ph type="dt" sz="half" idx="10"/>
          </p:nvPr>
        </p:nvSpPr>
        <p:spPr/>
        <p:txBody>
          <a:bodyPr/>
          <a:lstStyle/>
          <a:p>
            <a:fld id="{B43B846E-2209-4E8C-A2B6-1A72AD0A290D}" type="datetimeFigureOut">
              <a:rPr lang="fr-FR" smtClean="0"/>
              <a:t>24/04/2024</a:t>
            </a:fld>
            <a:endParaRPr lang="fr-FR"/>
          </a:p>
        </p:txBody>
      </p:sp>
      <p:sp>
        <p:nvSpPr>
          <p:cNvPr id="5" name="Espace réservé du pied de page 4">
            <a:extLst>
              <a:ext uri="{FF2B5EF4-FFF2-40B4-BE49-F238E27FC236}">
                <a16:creationId xmlns:a16="http://schemas.microsoft.com/office/drawing/2014/main" id="{E6F2A697-3D0F-4267-89A6-0352736632B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9D8692E-0245-4A2A-9E29-027BBB681851}"/>
              </a:ext>
            </a:extLst>
          </p:cNvPr>
          <p:cNvSpPr>
            <a:spLocks noGrp="1"/>
          </p:cNvSpPr>
          <p:nvPr>
            <p:ph type="sldNum" sz="quarter" idx="12"/>
          </p:nvPr>
        </p:nvSpPr>
        <p:spPr/>
        <p:txBody>
          <a:bodyPr/>
          <a:lstStyle/>
          <a:p>
            <a:fld id="{EE613918-9B8A-422F-A114-4F3EEC46909D}" type="slidenum">
              <a:rPr lang="fr-FR" smtClean="0"/>
              <a:t>‹N°›</a:t>
            </a:fld>
            <a:endParaRPr lang="fr-FR"/>
          </a:p>
        </p:txBody>
      </p:sp>
    </p:spTree>
    <p:extLst>
      <p:ext uri="{BB962C8B-B14F-4D97-AF65-F5344CB8AC3E}">
        <p14:creationId xmlns:p14="http://schemas.microsoft.com/office/powerpoint/2010/main" val="2781705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70732E-813F-4A17-A455-B2572484976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B56C54F-197D-4895-88E5-CEA406B6AB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86E03F0-2C45-4EFC-B6EE-F38F30E9F4A0}"/>
              </a:ext>
            </a:extLst>
          </p:cNvPr>
          <p:cNvSpPr>
            <a:spLocks noGrp="1"/>
          </p:cNvSpPr>
          <p:nvPr>
            <p:ph type="dt" sz="half" idx="10"/>
          </p:nvPr>
        </p:nvSpPr>
        <p:spPr/>
        <p:txBody>
          <a:bodyPr/>
          <a:lstStyle/>
          <a:p>
            <a:fld id="{B43B846E-2209-4E8C-A2B6-1A72AD0A290D}" type="datetimeFigureOut">
              <a:rPr lang="fr-FR" smtClean="0"/>
              <a:t>24/04/2024</a:t>
            </a:fld>
            <a:endParaRPr lang="fr-FR"/>
          </a:p>
        </p:txBody>
      </p:sp>
      <p:sp>
        <p:nvSpPr>
          <p:cNvPr id="5" name="Espace réservé du pied de page 4">
            <a:extLst>
              <a:ext uri="{FF2B5EF4-FFF2-40B4-BE49-F238E27FC236}">
                <a16:creationId xmlns:a16="http://schemas.microsoft.com/office/drawing/2014/main" id="{B30FD3DE-522C-4088-A420-71E2DACD170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C1D381D-A4AD-43E3-84DB-980D717FFD4D}"/>
              </a:ext>
            </a:extLst>
          </p:cNvPr>
          <p:cNvSpPr>
            <a:spLocks noGrp="1"/>
          </p:cNvSpPr>
          <p:nvPr>
            <p:ph type="sldNum" sz="quarter" idx="12"/>
          </p:nvPr>
        </p:nvSpPr>
        <p:spPr/>
        <p:txBody>
          <a:bodyPr/>
          <a:lstStyle/>
          <a:p>
            <a:fld id="{EE613918-9B8A-422F-A114-4F3EEC46909D}" type="slidenum">
              <a:rPr lang="fr-FR" smtClean="0"/>
              <a:t>‹N°›</a:t>
            </a:fld>
            <a:endParaRPr lang="fr-FR"/>
          </a:p>
        </p:txBody>
      </p:sp>
    </p:spTree>
    <p:extLst>
      <p:ext uri="{BB962C8B-B14F-4D97-AF65-F5344CB8AC3E}">
        <p14:creationId xmlns:p14="http://schemas.microsoft.com/office/powerpoint/2010/main" val="1035519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ECA040-3960-462D-8EC7-76263EFA9C0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EC0DDD0-7AB5-4563-83CD-E15A28944FB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833112C-CD2D-4D08-AB12-74952450C07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7A82B99-EDA6-448F-923B-21BEEC472980}"/>
              </a:ext>
            </a:extLst>
          </p:cNvPr>
          <p:cNvSpPr>
            <a:spLocks noGrp="1"/>
          </p:cNvSpPr>
          <p:nvPr>
            <p:ph type="dt" sz="half" idx="10"/>
          </p:nvPr>
        </p:nvSpPr>
        <p:spPr/>
        <p:txBody>
          <a:bodyPr/>
          <a:lstStyle/>
          <a:p>
            <a:fld id="{B43B846E-2209-4E8C-A2B6-1A72AD0A290D}" type="datetimeFigureOut">
              <a:rPr lang="fr-FR" smtClean="0"/>
              <a:t>24/04/2024</a:t>
            </a:fld>
            <a:endParaRPr lang="fr-FR"/>
          </a:p>
        </p:txBody>
      </p:sp>
      <p:sp>
        <p:nvSpPr>
          <p:cNvPr id="6" name="Espace réservé du pied de page 5">
            <a:extLst>
              <a:ext uri="{FF2B5EF4-FFF2-40B4-BE49-F238E27FC236}">
                <a16:creationId xmlns:a16="http://schemas.microsoft.com/office/drawing/2014/main" id="{B1DDB90C-0353-481F-894C-B07FDE8290C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6D5089A-7935-4481-8C42-314D1F1BBD31}"/>
              </a:ext>
            </a:extLst>
          </p:cNvPr>
          <p:cNvSpPr>
            <a:spLocks noGrp="1"/>
          </p:cNvSpPr>
          <p:nvPr>
            <p:ph type="sldNum" sz="quarter" idx="12"/>
          </p:nvPr>
        </p:nvSpPr>
        <p:spPr/>
        <p:txBody>
          <a:bodyPr/>
          <a:lstStyle/>
          <a:p>
            <a:fld id="{EE613918-9B8A-422F-A114-4F3EEC46909D}" type="slidenum">
              <a:rPr lang="fr-FR" smtClean="0"/>
              <a:t>‹N°›</a:t>
            </a:fld>
            <a:endParaRPr lang="fr-FR"/>
          </a:p>
        </p:txBody>
      </p:sp>
    </p:spTree>
    <p:extLst>
      <p:ext uri="{BB962C8B-B14F-4D97-AF65-F5344CB8AC3E}">
        <p14:creationId xmlns:p14="http://schemas.microsoft.com/office/powerpoint/2010/main" val="1378927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6CDD6-60A8-4D52-9165-FD32BF14391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5B9148B-B1E0-46C1-9F4B-F25196BDA5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D3AF954-FD0F-4945-97B7-8189CC8966D8}"/>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7E80DA7-B448-4FE2-86E0-85AF6DB78C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D5DEB38-EF47-435C-9B70-DD017D2D7EF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A997717-8DFC-40B9-B4F0-78C627CE853B}"/>
              </a:ext>
            </a:extLst>
          </p:cNvPr>
          <p:cNvSpPr>
            <a:spLocks noGrp="1"/>
          </p:cNvSpPr>
          <p:nvPr>
            <p:ph type="dt" sz="half" idx="10"/>
          </p:nvPr>
        </p:nvSpPr>
        <p:spPr/>
        <p:txBody>
          <a:bodyPr/>
          <a:lstStyle/>
          <a:p>
            <a:fld id="{B43B846E-2209-4E8C-A2B6-1A72AD0A290D}" type="datetimeFigureOut">
              <a:rPr lang="fr-FR" smtClean="0"/>
              <a:t>24/04/2024</a:t>
            </a:fld>
            <a:endParaRPr lang="fr-FR"/>
          </a:p>
        </p:txBody>
      </p:sp>
      <p:sp>
        <p:nvSpPr>
          <p:cNvPr id="8" name="Espace réservé du pied de page 7">
            <a:extLst>
              <a:ext uri="{FF2B5EF4-FFF2-40B4-BE49-F238E27FC236}">
                <a16:creationId xmlns:a16="http://schemas.microsoft.com/office/drawing/2014/main" id="{EA1B2F8B-2176-45AD-A5D1-E17FC2A6139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D2F6C88-3321-41E3-8B50-F6C0C0D68A09}"/>
              </a:ext>
            </a:extLst>
          </p:cNvPr>
          <p:cNvSpPr>
            <a:spLocks noGrp="1"/>
          </p:cNvSpPr>
          <p:nvPr>
            <p:ph type="sldNum" sz="quarter" idx="12"/>
          </p:nvPr>
        </p:nvSpPr>
        <p:spPr/>
        <p:txBody>
          <a:bodyPr/>
          <a:lstStyle/>
          <a:p>
            <a:fld id="{EE613918-9B8A-422F-A114-4F3EEC46909D}" type="slidenum">
              <a:rPr lang="fr-FR" smtClean="0"/>
              <a:t>‹N°›</a:t>
            </a:fld>
            <a:endParaRPr lang="fr-FR"/>
          </a:p>
        </p:txBody>
      </p:sp>
    </p:spTree>
    <p:extLst>
      <p:ext uri="{BB962C8B-B14F-4D97-AF65-F5344CB8AC3E}">
        <p14:creationId xmlns:p14="http://schemas.microsoft.com/office/powerpoint/2010/main" val="1224336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74832-3889-450E-A595-76BAAF9C8F5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887E25D-AD4A-4B97-9393-FBE36754FB0D}"/>
              </a:ext>
            </a:extLst>
          </p:cNvPr>
          <p:cNvSpPr>
            <a:spLocks noGrp="1"/>
          </p:cNvSpPr>
          <p:nvPr>
            <p:ph type="dt" sz="half" idx="10"/>
          </p:nvPr>
        </p:nvSpPr>
        <p:spPr/>
        <p:txBody>
          <a:bodyPr/>
          <a:lstStyle/>
          <a:p>
            <a:fld id="{B43B846E-2209-4E8C-A2B6-1A72AD0A290D}" type="datetimeFigureOut">
              <a:rPr lang="fr-FR" smtClean="0"/>
              <a:t>24/04/2024</a:t>
            </a:fld>
            <a:endParaRPr lang="fr-FR"/>
          </a:p>
        </p:txBody>
      </p:sp>
      <p:sp>
        <p:nvSpPr>
          <p:cNvPr id="4" name="Espace réservé du pied de page 3">
            <a:extLst>
              <a:ext uri="{FF2B5EF4-FFF2-40B4-BE49-F238E27FC236}">
                <a16:creationId xmlns:a16="http://schemas.microsoft.com/office/drawing/2014/main" id="{DC572315-6DF7-45AF-8F43-DA724779554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FDB090EC-672E-4DC8-A12E-7A1DC78A2893}"/>
              </a:ext>
            </a:extLst>
          </p:cNvPr>
          <p:cNvSpPr>
            <a:spLocks noGrp="1"/>
          </p:cNvSpPr>
          <p:nvPr>
            <p:ph type="sldNum" sz="quarter" idx="12"/>
          </p:nvPr>
        </p:nvSpPr>
        <p:spPr/>
        <p:txBody>
          <a:bodyPr/>
          <a:lstStyle/>
          <a:p>
            <a:fld id="{EE613918-9B8A-422F-A114-4F3EEC46909D}" type="slidenum">
              <a:rPr lang="fr-FR" smtClean="0"/>
              <a:t>‹N°›</a:t>
            </a:fld>
            <a:endParaRPr lang="fr-FR"/>
          </a:p>
        </p:txBody>
      </p:sp>
    </p:spTree>
    <p:extLst>
      <p:ext uri="{BB962C8B-B14F-4D97-AF65-F5344CB8AC3E}">
        <p14:creationId xmlns:p14="http://schemas.microsoft.com/office/powerpoint/2010/main" val="1394959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D63B902-D485-439F-809E-38EBF4C6F5D9}"/>
              </a:ext>
            </a:extLst>
          </p:cNvPr>
          <p:cNvSpPr>
            <a:spLocks noGrp="1"/>
          </p:cNvSpPr>
          <p:nvPr>
            <p:ph type="dt" sz="half" idx="10"/>
          </p:nvPr>
        </p:nvSpPr>
        <p:spPr/>
        <p:txBody>
          <a:bodyPr/>
          <a:lstStyle/>
          <a:p>
            <a:fld id="{B43B846E-2209-4E8C-A2B6-1A72AD0A290D}" type="datetimeFigureOut">
              <a:rPr lang="fr-FR" smtClean="0"/>
              <a:t>24/04/2024</a:t>
            </a:fld>
            <a:endParaRPr lang="fr-FR"/>
          </a:p>
        </p:txBody>
      </p:sp>
      <p:sp>
        <p:nvSpPr>
          <p:cNvPr id="3" name="Espace réservé du pied de page 2">
            <a:extLst>
              <a:ext uri="{FF2B5EF4-FFF2-40B4-BE49-F238E27FC236}">
                <a16:creationId xmlns:a16="http://schemas.microsoft.com/office/drawing/2014/main" id="{EDA41A85-5EC0-4949-8846-4816272F123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CB22B65-F0D5-4AD8-8194-445BAE9DE7A4}"/>
              </a:ext>
            </a:extLst>
          </p:cNvPr>
          <p:cNvSpPr>
            <a:spLocks noGrp="1"/>
          </p:cNvSpPr>
          <p:nvPr>
            <p:ph type="sldNum" sz="quarter" idx="12"/>
          </p:nvPr>
        </p:nvSpPr>
        <p:spPr/>
        <p:txBody>
          <a:bodyPr/>
          <a:lstStyle/>
          <a:p>
            <a:fld id="{EE613918-9B8A-422F-A114-4F3EEC46909D}" type="slidenum">
              <a:rPr lang="fr-FR" smtClean="0"/>
              <a:t>‹N°›</a:t>
            </a:fld>
            <a:endParaRPr lang="fr-FR"/>
          </a:p>
        </p:txBody>
      </p:sp>
    </p:spTree>
    <p:extLst>
      <p:ext uri="{BB962C8B-B14F-4D97-AF65-F5344CB8AC3E}">
        <p14:creationId xmlns:p14="http://schemas.microsoft.com/office/powerpoint/2010/main" val="1567810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6DFF80-5E67-49F6-8A71-DF80D1856A8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2C00B5E-32B2-400A-917B-16D39D1522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3FFA3C7-1D1D-493C-AA7C-BAA39159FB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D84972D-7144-4EE7-8E1A-EAFDD18FC26D}"/>
              </a:ext>
            </a:extLst>
          </p:cNvPr>
          <p:cNvSpPr>
            <a:spLocks noGrp="1"/>
          </p:cNvSpPr>
          <p:nvPr>
            <p:ph type="dt" sz="half" idx="10"/>
          </p:nvPr>
        </p:nvSpPr>
        <p:spPr/>
        <p:txBody>
          <a:bodyPr/>
          <a:lstStyle/>
          <a:p>
            <a:fld id="{B43B846E-2209-4E8C-A2B6-1A72AD0A290D}" type="datetimeFigureOut">
              <a:rPr lang="fr-FR" smtClean="0"/>
              <a:t>24/04/2024</a:t>
            </a:fld>
            <a:endParaRPr lang="fr-FR"/>
          </a:p>
        </p:txBody>
      </p:sp>
      <p:sp>
        <p:nvSpPr>
          <p:cNvPr id="6" name="Espace réservé du pied de page 5">
            <a:extLst>
              <a:ext uri="{FF2B5EF4-FFF2-40B4-BE49-F238E27FC236}">
                <a16:creationId xmlns:a16="http://schemas.microsoft.com/office/drawing/2014/main" id="{605B1E50-FE65-487A-B86E-C5B27E64020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8CCDBEB-064F-46CD-B3C2-63AF01173A4B}"/>
              </a:ext>
            </a:extLst>
          </p:cNvPr>
          <p:cNvSpPr>
            <a:spLocks noGrp="1"/>
          </p:cNvSpPr>
          <p:nvPr>
            <p:ph type="sldNum" sz="quarter" idx="12"/>
          </p:nvPr>
        </p:nvSpPr>
        <p:spPr/>
        <p:txBody>
          <a:bodyPr/>
          <a:lstStyle/>
          <a:p>
            <a:fld id="{EE613918-9B8A-422F-A114-4F3EEC46909D}" type="slidenum">
              <a:rPr lang="fr-FR" smtClean="0"/>
              <a:t>‹N°›</a:t>
            </a:fld>
            <a:endParaRPr lang="fr-FR"/>
          </a:p>
        </p:txBody>
      </p:sp>
    </p:spTree>
    <p:extLst>
      <p:ext uri="{BB962C8B-B14F-4D97-AF65-F5344CB8AC3E}">
        <p14:creationId xmlns:p14="http://schemas.microsoft.com/office/powerpoint/2010/main" val="3028529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3572D-8D22-44F0-8B67-BDA49435609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6C4C9A2-590E-4458-815E-56BDDCFB80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719F1A9-6F69-43A7-B9EF-8FBE63CFB7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C4AEBBB-84A7-47FD-8E15-5D58960E04B1}"/>
              </a:ext>
            </a:extLst>
          </p:cNvPr>
          <p:cNvSpPr>
            <a:spLocks noGrp="1"/>
          </p:cNvSpPr>
          <p:nvPr>
            <p:ph type="dt" sz="half" idx="10"/>
          </p:nvPr>
        </p:nvSpPr>
        <p:spPr/>
        <p:txBody>
          <a:bodyPr/>
          <a:lstStyle/>
          <a:p>
            <a:fld id="{B43B846E-2209-4E8C-A2B6-1A72AD0A290D}" type="datetimeFigureOut">
              <a:rPr lang="fr-FR" smtClean="0"/>
              <a:t>24/04/2024</a:t>
            </a:fld>
            <a:endParaRPr lang="fr-FR"/>
          </a:p>
        </p:txBody>
      </p:sp>
      <p:sp>
        <p:nvSpPr>
          <p:cNvPr id="6" name="Espace réservé du pied de page 5">
            <a:extLst>
              <a:ext uri="{FF2B5EF4-FFF2-40B4-BE49-F238E27FC236}">
                <a16:creationId xmlns:a16="http://schemas.microsoft.com/office/drawing/2014/main" id="{75B3DFC7-2375-45A9-8AB1-9E2A488984E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3B73A2C-0825-45A7-BD02-92F1307A94BB}"/>
              </a:ext>
            </a:extLst>
          </p:cNvPr>
          <p:cNvSpPr>
            <a:spLocks noGrp="1"/>
          </p:cNvSpPr>
          <p:nvPr>
            <p:ph type="sldNum" sz="quarter" idx="12"/>
          </p:nvPr>
        </p:nvSpPr>
        <p:spPr/>
        <p:txBody>
          <a:bodyPr/>
          <a:lstStyle/>
          <a:p>
            <a:fld id="{EE613918-9B8A-422F-A114-4F3EEC46909D}" type="slidenum">
              <a:rPr lang="fr-FR" smtClean="0"/>
              <a:t>‹N°›</a:t>
            </a:fld>
            <a:endParaRPr lang="fr-FR"/>
          </a:p>
        </p:txBody>
      </p:sp>
    </p:spTree>
    <p:extLst>
      <p:ext uri="{BB962C8B-B14F-4D97-AF65-F5344CB8AC3E}">
        <p14:creationId xmlns:p14="http://schemas.microsoft.com/office/powerpoint/2010/main" val="1533188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7D47A-65CD-43B3-B707-057FA42E043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3B07BCD-4963-4441-9498-3B381CB04DF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6A270BA-E88C-49BE-A30C-BD46489D0FDF}"/>
              </a:ext>
            </a:extLst>
          </p:cNvPr>
          <p:cNvSpPr>
            <a:spLocks noGrp="1"/>
          </p:cNvSpPr>
          <p:nvPr>
            <p:ph type="dt" sz="half" idx="10"/>
          </p:nvPr>
        </p:nvSpPr>
        <p:spPr/>
        <p:txBody>
          <a:bodyPr/>
          <a:lstStyle/>
          <a:p>
            <a:fld id="{B43B846E-2209-4E8C-A2B6-1A72AD0A290D}" type="datetimeFigureOut">
              <a:rPr lang="fr-FR" smtClean="0"/>
              <a:t>24/04/2024</a:t>
            </a:fld>
            <a:endParaRPr lang="fr-FR"/>
          </a:p>
        </p:txBody>
      </p:sp>
      <p:sp>
        <p:nvSpPr>
          <p:cNvPr id="5" name="Espace réservé du pied de page 4">
            <a:extLst>
              <a:ext uri="{FF2B5EF4-FFF2-40B4-BE49-F238E27FC236}">
                <a16:creationId xmlns:a16="http://schemas.microsoft.com/office/drawing/2014/main" id="{DC175D66-AE1D-4F6D-B7FE-A90B6AEDEA0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894486B-447E-426D-AC3A-DDB3A2BC9801}"/>
              </a:ext>
            </a:extLst>
          </p:cNvPr>
          <p:cNvSpPr>
            <a:spLocks noGrp="1"/>
          </p:cNvSpPr>
          <p:nvPr>
            <p:ph type="sldNum" sz="quarter" idx="12"/>
          </p:nvPr>
        </p:nvSpPr>
        <p:spPr/>
        <p:txBody>
          <a:bodyPr/>
          <a:lstStyle/>
          <a:p>
            <a:fld id="{EE613918-9B8A-422F-A114-4F3EEC46909D}" type="slidenum">
              <a:rPr lang="fr-FR" smtClean="0"/>
              <a:t>‹N°›</a:t>
            </a:fld>
            <a:endParaRPr lang="fr-FR"/>
          </a:p>
        </p:txBody>
      </p:sp>
    </p:spTree>
    <p:extLst>
      <p:ext uri="{BB962C8B-B14F-4D97-AF65-F5344CB8AC3E}">
        <p14:creationId xmlns:p14="http://schemas.microsoft.com/office/powerpoint/2010/main" val="3504098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413B5B9-C02B-436C-A3D5-E5C676B02B9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DD79220-0C85-4D6E-B506-09233004A94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3DA8B6C-7F97-4D24-B082-BA0587D8C531}"/>
              </a:ext>
            </a:extLst>
          </p:cNvPr>
          <p:cNvSpPr>
            <a:spLocks noGrp="1"/>
          </p:cNvSpPr>
          <p:nvPr>
            <p:ph type="dt" sz="half" idx="10"/>
          </p:nvPr>
        </p:nvSpPr>
        <p:spPr/>
        <p:txBody>
          <a:bodyPr/>
          <a:lstStyle/>
          <a:p>
            <a:fld id="{B43B846E-2209-4E8C-A2B6-1A72AD0A290D}" type="datetimeFigureOut">
              <a:rPr lang="fr-FR" smtClean="0"/>
              <a:t>24/04/2024</a:t>
            </a:fld>
            <a:endParaRPr lang="fr-FR"/>
          </a:p>
        </p:txBody>
      </p:sp>
      <p:sp>
        <p:nvSpPr>
          <p:cNvPr id="5" name="Espace réservé du pied de page 4">
            <a:extLst>
              <a:ext uri="{FF2B5EF4-FFF2-40B4-BE49-F238E27FC236}">
                <a16:creationId xmlns:a16="http://schemas.microsoft.com/office/drawing/2014/main" id="{488A7F72-98E2-4A94-86AD-80A217E453C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F917B07-6152-431D-A9A1-4EF25ACAC083}"/>
              </a:ext>
            </a:extLst>
          </p:cNvPr>
          <p:cNvSpPr>
            <a:spLocks noGrp="1"/>
          </p:cNvSpPr>
          <p:nvPr>
            <p:ph type="sldNum" sz="quarter" idx="12"/>
          </p:nvPr>
        </p:nvSpPr>
        <p:spPr/>
        <p:txBody>
          <a:bodyPr/>
          <a:lstStyle/>
          <a:p>
            <a:fld id="{EE613918-9B8A-422F-A114-4F3EEC46909D}" type="slidenum">
              <a:rPr lang="fr-FR" smtClean="0"/>
              <a:t>‹N°›</a:t>
            </a:fld>
            <a:endParaRPr lang="fr-FR"/>
          </a:p>
        </p:txBody>
      </p:sp>
    </p:spTree>
    <p:extLst>
      <p:ext uri="{BB962C8B-B14F-4D97-AF65-F5344CB8AC3E}">
        <p14:creationId xmlns:p14="http://schemas.microsoft.com/office/powerpoint/2010/main" val="4102790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6D845FB-A8E3-4A96-AED3-4A4684DAF3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E2823D8D-1839-4DAB-80F7-D2863ED39C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F2AC1E9-0EE2-4F0E-9E4D-DABF3F9CA8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3B846E-2209-4E8C-A2B6-1A72AD0A290D}" type="datetimeFigureOut">
              <a:rPr lang="fr-FR" smtClean="0"/>
              <a:t>24/04/2024</a:t>
            </a:fld>
            <a:endParaRPr lang="fr-FR"/>
          </a:p>
        </p:txBody>
      </p:sp>
      <p:sp>
        <p:nvSpPr>
          <p:cNvPr id="5" name="Espace réservé du pied de page 4">
            <a:extLst>
              <a:ext uri="{FF2B5EF4-FFF2-40B4-BE49-F238E27FC236}">
                <a16:creationId xmlns:a16="http://schemas.microsoft.com/office/drawing/2014/main" id="{7291F466-FB7B-48B1-B73E-C2303E753F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F6E90F7-3A72-4148-A153-D8828542D0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613918-9B8A-422F-A114-4F3EEC46909D}" type="slidenum">
              <a:rPr lang="fr-FR" smtClean="0"/>
              <a:t>‹N°›</a:t>
            </a:fld>
            <a:endParaRPr lang="fr-FR"/>
          </a:p>
        </p:txBody>
      </p:sp>
    </p:spTree>
    <p:extLst>
      <p:ext uri="{BB962C8B-B14F-4D97-AF65-F5344CB8AC3E}">
        <p14:creationId xmlns:p14="http://schemas.microsoft.com/office/powerpoint/2010/main" val="3668978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www.bahari-sarl.com/" TargetMode="External"/><Relationship Id="rId2" Type="http://schemas.openxmlformats.org/officeDocument/2006/relationships/hyperlink" Target="mailto:contact@bahari-sarl.com" TargetMode="External"/><Relationship Id="rId1" Type="http://schemas.openxmlformats.org/officeDocument/2006/relationships/slideLayout" Target="../slideLayouts/slideLayout2.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a:extLst>
              <a:ext uri="{FF2B5EF4-FFF2-40B4-BE49-F238E27FC236}">
                <a16:creationId xmlns:a16="http://schemas.microsoft.com/office/drawing/2014/main" id="{290C0FF3-6395-5A30-FCE1-97E09764E99E}"/>
              </a:ext>
            </a:extLst>
          </p:cNvPr>
          <p:cNvSpPr>
            <a:spLocks noGrp="1"/>
          </p:cNvSpPr>
          <p:nvPr>
            <p:ph type="subTitle" idx="1"/>
          </p:nvPr>
        </p:nvSpPr>
        <p:spPr>
          <a:xfrm>
            <a:off x="4137284" y="6104687"/>
            <a:ext cx="8054716" cy="538098"/>
          </a:xfrm>
        </p:spPr>
        <p:txBody>
          <a:bodyPr>
            <a:normAutofit/>
          </a:bodyPr>
          <a:lstStyle/>
          <a:p>
            <a:pPr algn="r"/>
            <a:r>
              <a:rPr lang="en-CH" sz="1800" dirty="0">
                <a:solidFill>
                  <a:schemeClr val="tx1">
                    <a:lumMod val="50000"/>
                    <a:lumOff val="50000"/>
                  </a:schemeClr>
                </a:solidFill>
                <a:latin typeface="Acumin Pro" panose="020B0504020202020204" pitchFamily="34" charset="77"/>
              </a:rPr>
              <a:t>Présentation de la société – Mai 202</a:t>
            </a:r>
            <a:r>
              <a:rPr lang="fr-FR" sz="1800" dirty="0">
                <a:solidFill>
                  <a:schemeClr val="tx1">
                    <a:lumMod val="50000"/>
                    <a:lumOff val="50000"/>
                  </a:schemeClr>
                </a:solidFill>
                <a:latin typeface="Acumin Pro" panose="020B0504020202020204" pitchFamily="34" charset="77"/>
              </a:rPr>
              <a:t>4</a:t>
            </a:r>
            <a:endParaRPr lang="en-CH" sz="1800" dirty="0">
              <a:solidFill>
                <a:schemeClr val="tx1">
                  <a:lumMod val="50000"/>
                  <a:lumOff val="50000"/>
                </a:schemeClr>
              </a:solidFill>
              <a:latin typeface="Acumin Pro" panose="020B0504020202020204" pitchFamily="34" charset="77"/>
            </a:endParaRPr>
          </a:p>
        </p:txBody>
      </p:sp>
      <p:pic>
        <p:nvPicPr>
          <p:cNvPr id="11" name="Picture 10" descr="Logo, company name&#10;&#10;Description automatically generated">
            <a:extLst>
              <a:ext uri="{FF2B5EF4-FFF2-40B4-BE49-F238E27FC236}">
                <a16:creationId xmlns:a16="http://schemas.microsoft.com/office/drawing/2014/main" id="{6BEE24F3-3A97-41AE-E55E-123AD55366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8807" y="753313"/>
            <a:ext cx="8054716" cy="47465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lumMod val="50000"/>
                    <a:lumOff val="50000"/>
                  </a:schemeClr>
                </a:solidFill>
                <a:latin typeface="Acumin Pro" panose="020B0504020202020204" pitchFamily="34" charset="77"/>
              </a:rPr>
              <a:t>FORME DE LA SOCIETE</a:t>
            </a:r>
          </a:p>
        </p:txBody>
      </p:sp>
      <p:sp>
        <p:nvSpPr>
          <p:cNvPr id="3" name="Espace réservé du contenu 2"/>
          <p:cNvSpPr>
            <a:spLocks noGrp="1"/>
          </p:cNvSpPr>
          <p:nvPr>
            <p:ph idx="1"/>
          </p:nvPr>
        </p:nvSpPr>
        <p:spPr>
          <a:xfrm>
            <a:off x="838200" y="1825625"/>
            <a:ext cx="10899098" cy="3091149"/>
          </a:xfrm>
        </p:spPr>
        <p:txBody>
          <a:bodyPr>
            <a:normAutofit lnSpcReduction="10000"/>
          </a:bodyPr>
          <a:lstStyle/>
          <a:p>
            <a:pPr marL="0" indent="0" algn="just">
              <a:lnSpc>
                <a:spcPct val="115000"/>
              </a:lnSpc>
              <a:spcAft>
                <a:spcPts val="800"/>
              </a:spcAft>
              <a:buNone/>
            </a:pPr>
            <a:r>
              <a:rPr lang="fr-FR" dirty="0">
                <a:solidFill>
                  <a:schemeClr val="tx1">
                    <a:lumMod val="50000"/>
                    <a:lumOff val="50000"/>
                  </a:schemeClr>
                </a:solidFill>
                <a:latin typeface="Acumin Pro" panose="020B0504020202020204" pitchFamily="34" charset="77"/>
                <a:ea typeface="Times New Roman" panose="02020603050405020304" pitchFamily="18" charset="0"/>
                <a:cs typeface="Times New Roman" panose="02020603050405020304" pitchFamily="18" charset="0"/>
              </a:rPr>
              <a:t>U</a:t>
            </a:r>
            <a:r>
              <a:rPr lang="fr-FR" sz="28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ne société a responsabilité limitée qui est régie par la loi n° 10/002 du 11 février 2010 autorisant l’adhésion de la République Démocratique du Congo au traité du 17 octobre 1993 relatifs à l’Harmonisation du Droit des Affaires en Afrique et surtout par l’acte uniforme du 30 janvier 2015 relatif au droit des sociétés commerciales et du groupement d’intérêt économique.</a:t>
            </a:r>
          </a:p>
          <a:p>
            <a:pPr>
              <a:buNone/>
            </a:pPr>
            <a:endParaRPr lang="fr-FR" dirty="0"/>
          </a:p>
        </p:txBody>
      </p:sp>
      <p:pic>
        <p:nvPicPr>
          <p:cNvPr id="5" name="Picture 4" descr="Logo, company name&#10;&#10;Description automatically generated">
            <a:extLst>
              <a:ext uri="{FF2B5EF4-FFF2-40B4-BE49-F238E27FC236}">
                <a16:creationId xmlns:a16="http://schemas.microsoft.com/office/drawing/2014/main" id="{8A5FEB78-2688-5014-1A60-1CB58DD1BB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6741" y="4916773"/>
            <a:ext cx="2960557" cy="16381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solidFill>
                  <a:schemeClr val="tx1">
                    <a:lumMod val="50000"/>
                    <a:lumOff val="50000"/>
                  </a:schemeClr>
                </a:solidFill>
                <a:latin typeface="Acumin Pro" panose="020B0504020202020204" pitchFamily="34" charset="77"/>
              </a:rPr>
              <a:t>DENOMINATION DE LA SOCIETE et CREATION</a:t>
            </a:r>
          </a:p>
        </p:txBody>
      </p:sp>
      <p:sp>
        <p:nvSpPr>
          <p:cNvPr id="3" name="Espace réservé du contenu 2"/>
          <p:cNvSpPr>
            <a:spLocks noGrp="1"/>
          </p:cNvSpPr>
          <p:nvPr>
            <p:ph idx="1"/>
          </p:nvPr>
        </p:nvSpPr>
        <p:spPr/>
        <p:txBody>
          <a:bodyPr>
            <a:normAutofit/>
          </a:bodyPr>
          <a:lstStyle/>
          <a:p>
            <a:pPr algn="just">
              <a:buNone/>
            </a:pPr>
            <a:r>
              <a:rPr lang="fr-FR" dirty="0">
                <a:solidFill>
                  <a:schemeClr val="tx1">
                    <a:lumMod val="50000"/>
                    <a:lumOff val="50000"/>
                  </a:schemeClr>
                </a:solidFill>
              </a:rPr>
              <a:t>   L’Entreprise se </a:t>
            </a:r>
            <a:r>
              <a:rPr lang="fr-FR" dirty="0">
                <a:solidFill>
                  <a:schemeClr val="tx1">
                    <a:lumMod val="50000"/>
                    <a:lumOff val="50000"/>
                  </a:schemeClr>
                </a:solidFill>
                <a:latin typeface="Acumin Pro" panose="020B0504020202020204" pitchFamily="34" charset="77"/>
              </a:rPr>
              <a:t>dénomme</a:t>
            </a:r>
            <a:r>
              <a:rPr lang="fr-FR" dirty="0">
                <a:solidFill>
                  <a:schemeClr val="tx1">
                    <a:lumMod val="50000"/>
                    <a:lumOff val="50000"/>
                  </a:schemeClr>
                </a:solidFill>
              </a:rPr>
              <a:t> </a:t>
            </a:r>
            <a:r>
              <a:rPr lang="fr-FR" b="1" dirty="0">
                <a:solidFill>
                  <a:schemeClr val="tx1">
                    <a:lumMod val="50000"/>
                    <a:lumOff val="50000"/>
                  </a:schemeClr>
                </a:solidFill>
              </a:rPr>
              <a:t>BAHARI S.A.R.L</a:t>
            </a:r>
            <a:r>
              <a:rPr lang="fr-FR" dirty="0">
                <a:solidFill>
                  <a:schemeClr val="tx1">
                    <a:lumMod val="50000"/>
                    <a:lumOff val="50000"/>
                  </a:schemeClr>
                </a:solidFill>
              </a:rPr>
              <a:t>, de droit congolais, née d’une association de l’entreprise de droit congolais CICOAGRI SARL et  COCOASOURCE SA de droit Suisse; ayant retrouvé une convergence dans leurs visions.</a:t>
            </a:r>
          </a:p>
          <a:p>
            <a:pPr algn="just">
              <a:buNone/>
            </a:pPr>
            <a:r>
              <a:rPr lang="en-US" sz="2800" dirty="0"/>
              <a:t>   La société BAHARI SARL a </a:t>
            </a:r>
            <a:r>
              <a:rPr lang="en-US" sz="2800" dirty="0" err="1"/>
              <a:t>été</a:t>
            </a:r>
            <a:r>
              <a:rPr lang="en-US" sz="2800" dirty="0"/>
              <a:t> </a:t>
            </a:r>
            <a:r>
              <a:rPr lang="en-US" sz="2800" dirty="0" err="1"/>
              <a:t>créée</a:t>
            </a:r>
            <a:r>
              <a:rPr lang="en-US" sz="2800" dirty="0"/>
              <a:t> </a:t>
            </a:r>
            <a:r>
              <a:rPr lang="en-US" sz="2800" dirty="0" err="1"/>
              <a:t>depuis</a:t>
            </a:r>
            <a:r>
              <a:rPr lang="en-US" sz="2800" dirty="0"/>
              <a:t> mars 2021</a:t>
            </a:r>
            <a:r>
              <a:rPr lang="fr-FR" dirty="0">
                <a:solidFill>
                  <a:schemeClr val="tx1">
                    <a:lumMod val="50000"/>
                    <a:lumOff val="50000"/>
                  </a:schemeClr>
                </a:solidFill>
              </a:rPr>
              <a:t>, reste autonome dans sa gestion de part le statut des associées; néanmoins s’appui sur l’expérience de ses partenaires dans les domaines d’expertise qu’ils développent (certification, exportation, diversification des cultures, …)</a:t>
            </a:r>
          </a:p>
        </p:txBody>
      </p:sp>
      <p:pic>
        <p:nvPicPr>
          <p:cNvPr id="4" name="Picture 3" descr="Logo, company name&#10;&#10;Description automatically generated">
            <a:extLst>
              <a:ext uri="{FF2B5EF4-FFF2-40B4-BE49-F238E27FC236}">
                <a16:creationId xmlns:a16="http://schemas.microsoft.com/office/drawing/2014/main" id="{F90CC990-4FA2-6949-4025-EDEA7F3CA3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5339" y="5321870"/>
            <a:ext cx="2228462" cy="12330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432734"/>
          </a:xfrm>
        </p:spPr>
        <p:txBody>
          <a:bodyPr>
            <a:normAutofit fontScale="90000"/>
          </a:bodyPr>
          <a:lstStyle/>
          <a:p>
            <a:r>
              <a:rPr lang="fr-FR" b="1" dirty="0">
                <a:solidFill>
                  <a:schemeClr val="tx1">
                    <a:lumMod val="50000"/>
                    <a:lumOff val="50000"/>
                  </a:schemeClr>
                </a:solidFill>
                <a:latin typeface="Acumin Pro" panose="020B0504020202020204" pitchFamily="34" charset="77"/>
              </a:rPr>
              <a:t>OBJECT SOCIAL</a:t>
            </a:r>
          </a:p>
        </p:txBody>
      </p:sp>
      <p:sp>
        <p:nvSpPr>
          <p:cNvPr id="3" name="Espace réservé du contenu 2"/>
          <p:cNvSpPr>
            <a:spLocks noGrp="1"/>
          </p:cNvSpPr>
          <p:nvPr>
            <p:ph idx="1"/>
          </p:nvPr>
        </p:nvSpPr>
        <p:spPr>
          <a:xfrm>
            <a:off x="1548882" y="1214423"/>
            <a:ext cx="9804918" cy="4430597"/>
          </a:xfrm>
        </p:spPr>
        <p:txBody>
          <a:bodyPr>
            <a:noAutofit/>
          </a:bodyPr>
          <a:lstStyle/>
          <a:p>
            <a:pPr marL="0" indent="0" algn="just">
              <a:lnSpc>
                <a:spcPct val="115000"/>
              </a:lnSpc>
              <a:spcAft>
                <a:spcPts val="800"/>
              </a:spcAft>
              <a:buNone/>
            </a:pP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La société a pour objet en République Démocratique du Congo et à l’étranger : </a:t>
            </a:r>
            <a:endParaRPr lang="fr-FR" sz="2000" dirty="0">
              <a:solidFill>
                <a:schemeClr val="tx1">
                  <a:lumMod val="50000"/>
                  <a:lumOff val="50000"/>
                </a:schemeClr>
              </a:solidFill>
              <a:effectLst/>
              <a:latin typeface="Acumin Pro" panose="020B0504020202020204" pitchFamily="34" charset="77"/>
              <a:ea typeface="Calibri" panose="020F0502020204030204" pitchFamily="34" charset="0"/>
              <a:cs typeface="Times New Roman" panose="02020603050405020304" pitchFamily="18" charset="0"/>
            </a:endParaRPr>
          </a:p>
          <a:p>
            <a:pPr algn="just">
              <a:lnSpc>
                <a:spcPct val="115000"/>
              </a:lnSpc>
              <a:spcAft>
                <a:spcPts val="800"/>
              </a:spcAft>
            </a:pPr>
            <a:r>
              <a:rPr lang="fr-FR" sz="2000" dirty="0">
                <a:solidFill>
                  <a:schemeClr val="tx1">
                    <a:lumMod val="50000"/>
                    <a:lumOff val="50000"/>
                  </a:schemeClr>
                </a:solidFill>
                <a:effectLst/>
                <a:latin typeface="Acumin Pro" panose="020B0504020202020204" pitchFamily="34" charset="77"/>
                <a:ea typeface="Calibri" panose="020F0502020204030204" pitchFamily="34" charset="0"/>
                <a:cs typeface="Times New Roman" panose="02020603050405020304" pitchFamily="18" charset="0"/>
              </a:rPr>
              <a:t>Les activités de négoce des produits et services agricoles, notamment </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l’achat, la vente, </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l</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i</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m</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p</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o</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r</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t</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a</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t</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i</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on</a:t>
            </a:r>
            <a:r>
              <a:rPr lang="fr-FR" sz="2000" spc="-5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 </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et</a:t>
            </a:r>
            <a:r>
              <a:rPr lang="fr-FR" sz="2000" spc="-5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 </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l</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e</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x</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p</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o</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r</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t</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a</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t</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i</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on</a:t>
            </a:r>
            <a:r>
              <a:rPr lang="fr-FR" sz="2000" spc="-5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 des matières premières agricoles telles que le café et le cacao, ainsi que </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d</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e</a:t>
            </a:r>
            <a:r>
              <a:rPr lang="fr-FR" sz="2000" spc="-4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 </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pr</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o</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d</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u</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i</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ts</a:t>
            </a:r>
            <a:r>
              <a:rPr lang="fr-FR" sz="2000" spc="-5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 </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b</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r</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uts</a:t>
            </a:r>
            <a:r>
              <a:rPr lang="fr-FR" sz="2000" spc="-4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 </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et</a:t>
            </a:r>
            <a:r>
              <a:rPr lang="fr-FR" sz="2000" spc="-4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 </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m</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a</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nu</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f</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a</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c</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tu</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r</a:t>
            </a: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é</a:t>
            </a:r>
            <a:r>
              <a:rPr lang="fr-FR" sz="2000" spc="-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s ;</a:t>
            </a:r>
            <a:endParaRPr lang="fr-FR" sz="2000" dirty="0">
              <a:solidFill>
                <a:schemeClr val="tx1">
                  <a:lumMod val="50000"/>
                  <a:lumOff val="50000"/>
                </a:schemeClr>
              </a:solidFill>
              <a:effectLst/>
              <a:latin typeface="Acumin Pro" panose="020B0504020202020204" pitchFamily="34" charset="77"/>
              <a:ea typeface="Calibri" panose="020F0502020204030204" pitchFamily="34" charset="0"/>
              <a:cs typeface="Times New Roman" panose="02020603050405020304" pitchFamily="18" charset="0"/>
            </a:endParaRPr>
          </a:p>
          <a:p>
            <a:pPr algn="just">
              <a:lnSpc>
                <a:spcPct val="115000"/>
              </a:lnSpc>
              <a:spcAft>
                <a:spcPts val="800"/>
              </a:spcAft>
            </a:pPr>
            <a:r>
              <a:rPr lang="fr-FR" sz="2000"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rPr>
              <a:t>L</a:t>
            </a:r>
            <a:r>
              <a:rPr lang="fr-FR" sz="2000" dirty="0">
                <a:solidFill>
                  <a:schemeClr val="tx1">
                    <a:lumMod val="50000"/>
                    <a:lumOff val="50000"/>
                  </a:schemeClr>
                </a:solidFill>
                <a:effectLst/>
                <a:latin typeface="Acumin Pro" panose="020B0504020202020204" pitchFamily="34" charset="77"/>
                <a:ea typeface="Calibri" panose="020F0502020204030204" pitchFamily="34" charset="0"/>
                <a:cs typeface="Times New Roman" panose="02020603050405020304" pitchFamily="18" charset="0"/>
              </a:rPr>
              <a:t>a production agricole sous contrat ou non, la manufacture et la commercialisation des produits agro-alimentaires, des semences, des composts, d’emballages ainsi que des intrants agricoles aux fins de satisfaction des besoins alimentaires humains et animaux, ainsi que les services d’entreposage et transport  de tous autres biens ou intrants dans le domaine de l’entreprenariat agro-alimentaire.</a:t>
            </a:r>
          </a:p>
        </p:txBody>
      </p:sp>
      <p:pic>
        <p:nvPicPr>
          <p:cNvPr id="4" name="Picture 3" descr="Logo, company name&#10;&#10;Description automatically generated">
            <a:extLst>
              <a:ext uri="{FF2B5EF4-FFF2-40B4-BE49-F238E27FC236}">
                <a16:creationId xmlns:a16="http://schemas.microsoft.com/office/drawing/2014/main" id="{4FF9463A-5E32-28A5-F506-756093A538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6406" y="26857"/>
            <a:ext cx="2644293" cy="12951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solidFill>
                  <a:schemeClr val="tx1">
                    <a:lumMod val="50000"/>
                    <a:lumOff val="50000"/>
                  </a:schemeClr>
                </a:solidFill>
                <a:latin typeface="Acumin Pro" panose="020B0504020202020204" pitchFamily="34" charset="77"/>
              </a:rPr>
              <a:t>#</a:t>
            </a:r>
            <a:r>
              <a:rPr lang="fr-FR" b="1" dirty="0">
                <a:solidFill>
                  <a:schemeClr val="tx1">
                    <a:lumMod val="50000"/>
                    <a:lumOff val="50000"/>
                  </a:schemeClr>
                </a:solidFill>
                <a:latin typeface="Acumin Pro" panose="020B0504020202020204" pitchFamily="34" charset="77"/>
              </a:rPr>
              <a:t>1.Pourquoi sommes nous?</a:t>
            </a:r>
          </a:p>
        </p:txBody>
      </p:sp>
      <p:sp>
        <p:nvSpPr>
          <p:cNvPr id="3" name="Espace réservé du contenu 2"/>
          <p:cNvSpPr>
            <a:spLocks noGrp="1"/>
          </p:cNvSpPr>
          <p:nvPr>
            <p:ph idx="1"/>
          </p:nvPr>
        </p:nvSpPr>
        <p:spPr>
          <a:xfrm>
            <a:off x="1981200" y="1412777"/>
            <a:ext cx="8229600" cy="4713387"/>
          </a:xfrm>
        </p:spPr>
        <p:txBody>
          <a:bodyPr>
            <a:normAutofit fontScale="92500" lnSpcReduction="20000"/>
          </a:bodyPr>
          <a:lstStyle/>
          <a:p>
            <a:r>
              <a:rPr lang="fr-FR" sz="4000" b="1" dirty="0">
                <a:solidFill>
                  <a:schemeClr val="tx1">
                    <a:lumMod val="50000"/>
                    <a:lumOff val="50000"/>
                  </a:schemeClr>
                </a:solidFill>
                <a:latin typeface="Acumin Pro" panose="020B0504020202020204" pitchFamily="34" charset="77"/>
              </a:rPr>
              <a:t>Vision:</a:t>
            </a:r>
          </a:p>
          <a:p>
            <a:pPr>
              <a:buNone/>
            </a:pPr>
            <a:r>
              <a:rPr lang="fr-FR" sz="4400" i="1" dirty="0">
                <a:solidFill>
                  <a:schemeClr val="tx1">
                    <a:lumMod val="50000"/>
                    <a:lumOff val="50000"/>
                  </a:schemeClr>
                </a:solidFill>
                <a:latin typeface="Acumin Pro" panose="020B0504020202020204" pitchFamily="34" charset="77"/>
              </a:rPr>
              <a:t>« Un monde meilleur où les paysans-agriculteurs et partenaires vivent aisément de leurs métiers en couvrant les besoins primaires de leurs familles, dans le respect de l’environnement et des communautés qui nous entourent»</a:t>
            </a:r>
            <a:endParaRPr lang="fr-FR" sz="4400" dirty="0">
              <a:solidFill>
                <a:schemeClr val="tx1">
                  <a:lumMod val="50000"/>
                  <a:lumOff val="50000"/>
                </a:schemeClr>
              </a:solidFill>
              <a:latin typeface="Acumin Pro" panose="020B0504020202020204" pitchFamily="34" charset="77"/>
            </a:endParaRPr>
          </a:p>
          <a:p>
            <a:pPr>
              <a:buNone/>
            </a:pPr>
            <a:endParaRPr lang="fr-FR" dirty="0"/>
          </a:p>
          <a:p>
            <a:endParaRPr lang="fr-FR" dirty="0"/>
          </a:p>
        </p:txBody>
      </p:sp>
      <p:pic>
        <p:nvPicPr>
          <p:cNvPr id="4" name="Picture 3" descr="Logo, company name&#10;&#10;Description automatically generated">
            <a:extLst>
              <a:ext uri="{FF2B5EF4-FFF2-40B4-BE49-F238E27FC236}">
                <a16:creationId xmlns:a16="http://schemas.microsoft.com/office/drawing/2014/main" id="{CCFBB41E-719C-2923-4E34-DD5E72E42E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6741" y="4916773"/>
            <a:ext cx="2960557" cy="16381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81200" y="274638"/>
            <a:ext cx="8229600" cy="634082"/>
          </a:xfrm>
        </p:spPr>
        <p:txBody>
          <a:bodyPr>
            <a:normAutofit fontScale="90000"/>
          </a:bodyPr>
          <a:lstStyle/>
          <a:p>
            <a:r>
              <a:rPr lang="fr-FR" dirty="0">
                <a:solidFill>
                  <a:schemeClr val="tx1">
                    <a:lumMod val="50000"/>
                    <a:lumOff val="50000"/>
                  </a:schemeClr>
                </a:solidFill>
                <a:latin typeface="Acumin Pro" panose="020B0504020202020204" pitchFamily="34" charset="77"/>
              </a:rPr>
              <a:t>#</a:t>
            </a:r>
            <a:r>
              <a:rPr lang="fr-FR" b="1" dirty="0">
                <a:solidFill>
                  <a:schemeClr val="tx1">
                    <a:lumMod val="50000"/>
                    <a:lumOff val="50000"/>
                  </a:schemeClr>
                </a:solidFill>
                <a:latin typeface="Acumin Pro" panose="020B0504020202020204" pitchFamily="34" charset="77"/>
              </a:rPr>
              <a:t>1.Pourquoi sommes-nous?</a:t>
            </a:r>
            <a:endParaRPr lang="fr-FR" dirty="0">
              <a:solidFill>
                <a:schemeClr val="tx1">
                  <a:lumMod val="50000"/>
                  <a:lumOff val="50000"/>
                </a:schemeClr>
              </a:solidFill>
              <a:latin typeface="Acumin Pro" panose="020B0504020202020204" pitchFamily="34" charset="77"/>
            </a:endParaRPr>
          </a:p>
        </p:txBody>
      </p:sp>
      <p:sp>
        <p:nvSpPr>
          <p:cNvPr id="3" name="Espace réservé du contenu 2"/>
          <p:cNvSpPr>
            <a:spLocks noGrp="1"/>
          </p:cNvSpPr>
          <p:nvPr>
            <p:ph idx="1"/>
          </p:nvPr>
        </p:nvSpPr>
        <p:spPr>
          <a:xfrm>
            <a:off x="1559859" y="964294"/>
            <a:ext cx="9655312" cy="4731426"/>
          </a:xfrm>
        </p:spPr>
        <p:txBody>
          <a:bodyPr>
            <a:normAutofit fontScale="92500" lnSpcReduction="10000"/>
          </a:bodyPr>
          <a:lstStyle/>
          <a:p>
            <a:pPr marL="0" indent="0">
              <a:buNone/>
            </a:pPr>
            <a:r>
              <a:rPr lang="fr-FR" b="1" dirty="0">
                <a:solidFill>
                  <a:schemeClr val="tx1">
                    <a:lumMod val="50000"/>
                    <a:lumOff val="50000"/>
                  </a:schemeClr>
                </a:solidFill>
                <a:latin typeface="Acumin Pro" panose="020B0504020202020204" pitchFamily="34" charset="77"/>
              </a:rPr>
              <a:t>Mission</a:t>
            </a:r>
          </a:p>
          <a:p>
            <a:pPr marL="0" indent="0">
              <a:buNone/>
            </a:pPr>
            <a:r>
              <a:rPr lang="fr-FR" dirty="0">
                <a:solidFill>
                  <a:schemeClr val="tx1">
                    <a:lumMod val="50000"/>
                    <a:lumOff val="50000"/>
                  </a:schemeClr>
                </a:solidFill>
                <a:latin typeface="Acumin Pro" panose="020B0504020202020204" pitchFamily="34" charset="77"/>
              </a:rPr>
              <a:t>Développement des opportunités d’affaires gagnantes-gagnantes, de projets communautaires sur mesure en collaboration avec nos coopératives partenaires et nos clients, pour atteindre les objectifs de développement durable des Nations unies suivants:</a:t>
            </a:r>
          </a:p>
          <a:p>
            <a:pPr marL="0" indent="0">
              <a:buNone/>
            </a:pPr>
            <a:r>
              <a:rPr lang="fr-FR" dirty="0">
                <a:solidFill>
                  <a:schemeClr val="tx1">
                    <a:lumMod val="50000"/>
                    <a:lumOff val="50000"/>
                  </a:schemeClr>
                </a:solidFill>
                <a:latin typeface="Acumin Pro" panose="020B0504020202020204" pitchFamily="34" charset="77"/>
              </a:rPr>
              <a:t>2: Faim zéro</a:t>
            </a:r>
          </a:p>
          <a:p>
            <a:pPr marL="0" indent="0">
              <a:buNone/>
            </a:pPr>
            <a:r>
              <a:rPr lang="fr-FR" dirty="0">
                <a:solidFill>
                  <a:schemeClr val="tx1">
                    <a:lumMod val="50000"/>
                    <a:lumOff val="50000"/>
                  </a:schemeClr>
                </a:solidFill>
                <a:latin typeface="Acumin Pro" panose="020B0504020202020204" pitchFamily="34" charset="77"/>
              </a:rPr>
              <a:t>4: Education de qualité</a:t>
            </a:r>
          </a:p>
          <a:p>
            <a:pPr marL="0" indent="0">
              <a:buNone/>
            </a:pPr>
            <a:r>
              <a:rPr lang="fr-FR" dirty="0">
                <a:solidFill>
                  <a:schemeClr val="tx1">
                    <a:lumMod val="50000"/>
                    <a:lumOff val="50000"/>
                  </a:schemeClr>
                </a:solidFill>
                <a:latin typeface="Acumin Pro" panose="020B0504020202020204" pitchFamily="34" charset="77"/>
              </a:rPr>
              <a:t>6: Eau propre et assainissement</a:t>
            </a:r>
          </a:p>
          <a:p>
            <a:pPr marL="0" indent="0">
              <a:buNone/>
            </a:pPr>
            <a:r>
              <a:rPr lang="fr-FR" dirty="0">
                <a:solidFill>
                  <a:schemeClr val="tx1">
                    <a:lumMod val="50000"/>
                    <a:lumOff val="50000"/>
                  </a:schemeClr>
                </a:solidFill>
                <a:latin typeface="Acumin Pro" panose="020B0504020202020204" pitchFamily="34" charset="77"/>
              </a:rPr>
              <a:t>8: Travail décent et croissance économique</a:t>
            </a:r>
          </a:p>
          <a:p>
            <a:pPr marL="0" indent="0">
              <a:buNone/>
            </a:pPr>
            <a:r>
              <a:rPr lang="fr-FR" dirty="0">
                <a:solidFill>
                  <a:schemeClr val="tx1">
                    <a:lumMod val="50000"/>
                    <a:lumOff val="50000"/>
                  </a:schemeClr>
                </a:solidFill>
                <a:latin typeface="Acumin Pro" panose="020B0504020202020204" pitchFamily="34" charset="77"/>
              </a:rPr>
              <a:t>15: Vie terrestre: </a:t>
            </a:r>
            <a:r>
              <a:rPr lang="en-GB" dirty="0" err="1">
                <a:solidFill>
                  <a:schemeClr val="tx1">
                    <a:lumMod val="50000"/>
                    <a:lumOff val="50000"/>
                  </a:schemeClr>
                </a:solidFill>
              </a:rPr>
              <a:t>Préserver</a:t>
            </a:r>
            <a:r>
              <a:rPr lang="en-GB" dirty="0">
                <a:solidFill>
                  <a:schemeClr val="tx1">
                    <a:lumMod val="50000"/>
                    <a:lumOff val="50000"/>
                  </a:schemeClr>
                </a:solidFill>
              </a:rPr>
              <a:t> la </a:t>
            </a:r>
            <a:r>
              <a:rPr lang="en-GB" dirty="0" err="1">
                <a:solidFill>
                  <a:schemeClr val="tx1">
                    <a:lumMod val="50000"/>
                    <a:lumOff val="50000"/>
                  </a:schemeClr>
                </a:solidFill>
              </a:rPr>
              <a:t>biodiversité</a:t>
            </a:r>
            <a:r>
              <a:rPr lang="en-GB" dirty="0">
                <a:solidFill>
                  <a:schemeClr val="tx1">
                    <a:lumMod val="50000"/>
                    <a:lumOff val="50000"/>
                  </a:schemeClr>
                </a:solidFill>
              </a:rPr>
              <a:t> dans les plantations et </a:t>
            </a:r>
            <a:r>
              <a:rPr lang="en-GB" dirty="0" err="1">
                <a:solidFill>
                  <a:schemeClr val="tx1">
                    <a:lumMod val="50000"/>
                    <a:lumOff val="50000"/>
                  </a:schemeClr>
                </a:solidFill>
              </a:rPr>
              <a:t>lutter</a:t>
            </a:r>
            <a:r>
              <a:rPr lang="en-GB" dirty="0">
                <a:solidFill>
                  <a:schemeClr val="tx1">
                    <a:lumMod val="50000"/>
                    <a:lumOff val="50000"/>
                  </a:schemeClr>
                </a:solidFill>
              </a:rPr>
              <a:t> </a:t>
            </a:r>
            <a:r>
              <a:rPr lang="en-GB" dirty="0" err="1">
                <a:solidFill>
                  <a:schemeClr val="tx1">
                    <a:lumMod val="50000"/>
                    <a:lumOff val="50000"/>
                  </a:schemeClr>
                </a:solidFill>
              </a:rPr>
              <a:t>contre</a:t>
            </a:r>
            <a:r>
              <a:rPr lang="en-GB" dirty="0">
                <a:solidFill>
                  <a:schemeClr val="tx1">
                    <a:lumMod val="50000"/>
                    <a:lumOff val="50000"/>
                  </a:schemeClr>
                </a:solidFill>
              </a:rPr>
              <a:t> la deforestation</a:t>
            </a:r>
            <a:endParaRPr lang="fr-FR" dirty="0">
              <a:solidFill>
                <a:srgbClr val="FF0000"/>
              </a:solidFill>
            </a:endParaRPr>
          </a:p>
        </p:txBody>
      </p:sp>
      <p:pic>
        <p:nvPicPr>
          <p:cNvPr id="4" name="Picture 3" descr="Logo, company name&#10;&#10;Description automatically generated">
            <a:extLst>
              <a:ext uri="{FF2B5EF4-FFF2-40B4-BE49-F238E27FC236}">
                <a16:creationId xmlns:a16="http://schemas.microsoft.com/office/drawing/2014/main" id="{23065EC6-0910-0BF3-BFD5-7E56201E5C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5854" y="5398265"/>
            <a:ext cx="2572576" cy="132195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solidFill>
                  <a:schemeClr val="tx1">
                    <a:lumMod val="50000"/>
                    <a:lumOff val="50000"/>
                  </a:schemeClr>
                </a:solidFill>
                <a:latin typeface="Acumin Pro" panose="020B0504020202020204" pitchFamily="34" charset="77"/>
              </a:rPr>
              <a:t>#2. Comment nous comportons nous?</a:t>
            </a:r>
          </a:p>
        </p:txBody>
      </p:sp>
      <p:sp>
        <p:nvSpPr>
          <p:cNvPr id="3" name="Espace réservé du contenu 2"/>
          <p:cNvSpPr>
            <a:spLocks noGrp="1"/>
          </p:cNvSpPr>
          <p:nvPr>
            <p:ph idx="1"/>
          </p:nvPr>
        </p:nvSpPr>
        <p:spPr>
          <a:xfrm>
            <a:off x="1981200" y="1268761"/>
            <a:ext cx="7931224" cy="4857403"/>
          </a:xfrm>
        </p:spPr>
        <p:txBody>
          <a:bodyPr>
            <a:normAutofit/>
          </a:bodyPr>
          <a:lstStyle/>
          <a:p>
            <a:pPr marL="0" indent="0">
              <a:buNone/>
            </a:pPr>
            <a:r>
              <a:rPr lang="fr-FR" b="1" dirty="0">
                <a:solidFill>
                  <a:schemeClr val="tx1">
                    <a:lumMod val="50000"/>
                    <a:lumOff val="50000"/>
                  </a:schemeClr>
                </a:solidFill>
                <a:latin typeface="Acumin Pro" panose="020B0504020202020204" pitchFamily="34" charset="77"/>
              </a:rPr>
              <a:t>BAHARI SARL </a:t>
            </a:r>
            <a:r>
              <a:rPr lang="fr-FR" dirty="0">
                <a:solidFill>
                  <a:schemeClr val="tx1">
                    <a:lumMod val="50000"/>
                    <a:lumOff val="50000"/>
                  </a:schemeClr>
                </a:solidFill>
                <a:latin typeface="Acumin Pro" panose="020B0504020202020204" pitchFamily="34" charset="77"/>
              </a:rPr>
              <a:t>prône des valeurs suivantes:</a:t>
            </a:r>
          </a:p>
          <a:p>
            <a:r>
              <a:rPr lang="fr-FR" dirty="0">
                <a:solidFill>
                  <a:schemeClr val="tx1">
                    <a:lumMod val="50000"/>
                    <a:lumOff val="50000"/>
                  </a:schemeClr>
                </a:solidFill>
                <a:latin typeface="Acumin Pro" panose="020B0504020202020204" pitchFamily="34" charset="77"/>
              </a:rPr>
              <a:t>La </a:t>
            </a:r>
            <a:r>
              <a:rPr lang="fr-FR" b="1" dirty="0">
                <a:solidFill>
                  <a:schemeClr val="tx1">
                    <a:lumMod val="50000"/>
                    <a:lumOff val="50000"/>
                  </a:schemeClr>
                </a:solidFill>
                <a:latin typeface="Acumin Pro" panose="020B0504020202020204" pitchFamily="34" charset="77"/>
              </a:rPr>
              <a:t>dignité</a:t>
            </a:r>
            <a:r>
              <a:rPr lang="fr-FR" dirty="0">
                <a:solidFill>
                  <a:schemeClr val="tx1">
                    <a:lumMod val="50000"/>
                    <a:lumOff val="50000"/>
                  </a:schemeClr>
                </a:solidFill>
                <a:latin typeface="Acumin Pro" panose="020B0504020202020204" pitchFamily="34" charset="77"/>
              </a:rPr>
              <a:t>: le respect des clients, partenaires et le personnel intervenant dans nos opérations</a:t>
            </a:r>
          </a:p>
          <a:p>
            <a:r>
              <a:rPr lang="fr-FR" dirty="0">
                <a:solidFill>
                  <a:schemeClr val="tx1">
                    <a:lumMod val="50000"/>
                    <a:lumOff val="50000"/>
                  </a:schemeClr>
                </a:solidFill>
                <a:latin typeface="Acumin Pro" panose="020B0504020202020204" pitchFamily="34" charset="77"/>
              </a:rPr>
              <a:t>L’</a:t>
            </a:r>
            <a:r>
              <a:rPr lang="fr-FR" b="1" dirty="0">
                <a:solidFill>
                  <a:schemeClr val="tx1">
                    <a:lumMod val="50000"/>
                    <a:lumOff val="50000"/>
                  </a:schemeClr>
                </a:solidFill>
                <a:latin typeface="Acumin Pro" panose="020B0504020202020204" pitchFamily="34" charset="77"/>
              </a:rPr>
              <a:t>innovation</a:t>
            </a:r>
            <a:r>
              <a:rPr lang="fr-FR" dirty="0">
                <a:solidFill>
                  <a:schemeClr val="tx1">
                    <a:lumMod val="50000"/>
                    <a:lumOff val="50000"/>
                  </a:schemeClr>
                </a:solidFill>
                <a:latin typeface="Acumin Pro" panose="020B0504020202020204" pitchFamily="34" charset="77"/>
              </a:rPr>
              <a:t>: chaque projet pour nous à ses particularités</a:t>
            </a:r>
          </a:p>
          <a:p>
            <a:r>
              <a:rPr lang="fr-FR" dirty="0">
                <a:solidFill>
                  <a:schemeClr val="tx1">
                    <a:lumMod val="50000"/>
                    <a:lumOff val="50000"/>
                  </a:schemeClr>
                </a:solidFill>
                <a:latin typeface="Acumin Pro" panose="020B0504020202020204" pitchFamily="34" charset="77"/>
              </a:rPr>
              <a:t>La </a:t>
            </a:r>
            <a:r>
              <a:rPr lang="fr-FR" b="1" dirty="0">
                <a:solidFill>
                  <a:schemeClr val="tx1">
                    <a:lumMod val="50000"/>
                    <a:lumOff val="50000"/>
                  </a:schemeClr>
                </a:solidFill>
                <a:latin typeface="Acumin Pro" panose="020B0504020202020204" pitchFamily="34" charset="77"/>
              </a:rPr>
              <a:t>persévérance</a:t>
            </a:r>
            <a:r>
              <a:rPr lang="fr-FR" dirty="0">
                <a:solidFill>
                  <a:schemeClr val="tx1">
                    <a:lumMod val="50000"/>
                    <a:lumOff val="50000"/>
                  </a:schemeClr>
                </a:solidFill>
                <a:latin typeface="Acumin Pro" panose="020B0504020202020204" pitchFamily="34" charset="77"/>
              </a:rPr>
              <a:t>: malgré les aléas, nous poursuivons pour atteindre le but</a:t>
            </a:r>
          </a:p>
          <a:p>
            <a:r>
              <a:rPr lang="fr-FR" dirty="0">
                <a:solidFill>
                  <a:schemeClr val="tx1">
                    <a:lumMod val="50000"/>
                    <a:lumOff val="50000"/>
                  </a:schemeClr>
                </a:solidFill>
                <a:latin typeface="Acumin Pro" panose="020B0504020202020204" pitchFamily="34" charset="77"/>
              </a:rPr>
              <a:t>L’</a:t>
            </a:r>
            <a:r>
              <a:rPr lang="fr-FR" b="1" dirty="0">
                <a:solidFill>
                  <a:schemeClr val="tx1">
                    <a:lumMod val="50000"/>
                    <a:lumOff val="50000"/>
                  </a:schemeClr>
                </a:solidFill>
                <a:latin typeface="Acumin Pro" panose="020B0504020202020204" pitchFamily="34" charset="77"/>
              </a:rPr>
              <a:t>altruisme</a:t>
            </a:r>
            <a:r>
              <a:rPr lang="fr-FR" dirty="0">
                <a:solidFill>
                  <a:schemeClr val="tx1">
                    <a:lumMod val="50000"/>
                    <a:lumOff val="50000"/>
                  </a:schemeClr>
                </a:solidFill>
                <a:latin typeface="Acumin Pro" panose="020B0504020202020204" pitchFamily="34" charset="77"/>
              </a:rPr>
              <a:t>: tout intervenant chez nous doit avoir en lui cette tendance de faire du bien à autrui</a:t>
            </a:r>
          </a:p>
          <a:p>
            <a:endParaRPr lang="fr-FR" dirty="0"/>
          </a:p>
        </p:txBody>
      </p:sp>
      <p:pic>
        <p:nvPicPr>
          <p:cNvPr id="4" name="Picture 3" descr="Logo, company name&#10;&#10;Description automatically generated">
            <a:extLst>
              <a:ext uri="{FF2B5EF4-FFF2-40B4-BE49-F238E27FC236}">
                <a16:creationId xmlns:a16="http://schemas.microsoft.com/office/drawing/2014/main" id="{A8DB005E-A21D-CC66-8C8A-9637644F5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0821" y="5199961"/>
            <a:ext cx="3095965" cy="165803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solidFill>
                  <a:schemeClr val="tx1">
                    <a:lumMod val="50000"/>
                    <a:lumOff val="50000"/>
                  </a:schemeClr>
                </a:solidFill>
                <a:latin typeface="Acumin Pro" panose="020B0504020202020204" pitchFamily="34" charset="77"/>
              </a:rPr>
              <a:t>#3. Que faisons nous?</a:t>
            </a:r>
          </a:p>
        </p:txBody>
      </p:sp>
      <p:sp>
        <p:nvSpPr>
          <p:cNvPr id="3" name="Espace réservé du contenu 2"/>
          <p:cNvSpPr>
            <a:spLocks noGrp="1"/>
          </p:cNvSpPr>
          <p:nvPr>
            <p:ph idx="1"/>
          </p:nvPr>
        </p:nvSpPr>
        <p:spPr/>
        <p:txBody>
          <a:bodyPr>
            <a:normAutofit/>
          </a:bodyPr>
          <a:lstStyle/>
          <a:p>
            <a:r>
              <a:rPr lang="fr-FR" dirty="0">
                <a:solidFill>
                  <a:schemeClr val="tx1">
                    <a:lumMod val="50000"/>
                    <a:lumOff val="50000"/>
                  </a:schemeClr>
                </a:solidFill>
                <a:latin typeface="Acumin Pro" panose="020B0504020202020204" pitchFamily="34" charset="77"/>
              </a:rPr>
              <a:t>Négociant des produits agricoles (cacao, café, caoutchouc, …)</a:t>
            </a:r>
          </a:p>
          <a:p>
            <a:r>
              <a:rPr lang="fr-FR" dirty="0">
                <a:solidFill>
                  <a:schemeClr val="tx1">
                    <a:lumMod val="50000"/>
                    <a:lumOff val="50000"/>
                  </a:schemeClr>
                </a:solidFill>
                <a:latin typeface="Acumin Pro" panose="020B0504020202020204" pitchFamily="34" charset="77"/>
              </a:rPr>
              <a:t>Appui aux coopératives agricoles dans la durabilité et la traçabilité de leurs productions</a:t>
            </a:r>
          </a:p>
          <a:p>
            <a:r>
              <a:rPr lang="fr-FR" dirty="0">
                <a:solidFill>
                  <a:schemeClr val="tx1">
                    <a:lumMod val="50000"/>
                    <a:lumOff val="50000"/>
                  </a:schemeClr>
                </a:solidFill>
                <a:latin typeface="Acumin Pro" panose="020B0504020202020204" pitchFamily="34" charset="77"/>
              </a:rPr>
              <a:t>Commercialisation des produits agricoles</a:t>
            </a:r>
          </a:p>
          <a:p>
            <a:r>
              <a:rPr lang="fr-FR" dirty="0">
                <a:solidFill>
                  <a:schemeClr val="tx1">
                    <a:lumMod val="50000"/>
                    <a:lumOff val="50000"/>
                  </a:schemeClr>
                </a:solidFill>
                <a:latin typeface="Acumin Pro" panose="020B0504020202020204" pitchFamily="34" charset="77"/>
              </a:rPr>
              <a:t>Logistique et facilitation pour l’exportation et recherche des marchés</a:t>
            </a:r>
          </a:p>
          <a:p>
            <a:r>
              <a:rPr lang="fr-FR" dirty="0">
                <a:solidFill>
                  <a:schemeClr val="tx1">
                    <a:lumMod val="50000"/>
                    <a:lumOff val="50000"/>
                  </a:schemeClr>
                </a:solidFill>
                <a:latin typeface="Acumin Pro" panose="020B0504020202020204" pitchFamily="34" charset="77"/>
              </a:rPr>
              <a:t>Transformation agroalimentaire</a:t>
            </a:r>
          </a:p>
        </p:txBody>
      </p:sp>
      <p:pic>
        <p:nvPicPr>
          <p:cNvPr id="4" name="Picture 3" descr="Logo, company name&#10;&#10;Description automatically generated">
            <a:extLst>
              <a:ext uri="{FF2B5EF4-FFF2-40B4-BE49-F238E27FC236}">
                <a16:creationId xmlns:a16="http://schemas.microsoft.com/office/drawing/2014/main" id="{189A4AE6-9338-7C1A-A8ED-E350311FD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6741" y="4916773"/>
            <a:ext cx="2960557" cy="163819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solidFill>
                  <a:schemeClr val="tx1">
                    <a:lumMod val="50000"/>
                    <a:lumOff val="50000"/>
                  </a:schemeClr>
                </a:solidFill>
                <a:latin typeface="Acumin Pro" panose="020B0504020202020204" pitchFamily="34" charset="77"/>
              </a:rPr>
              <a:t>#4. Comment allons-nous réussir?</a:t>
            </a:r>
          </a:p>
        </p:txBody>
      </p:sp>
      <p:sp>
        <p:nvSpPr>
          <p:cNvPr id="3" name="Espace réservé du contenu 2"/>
          <p:cNvSpPr>
            <a:spLocks noGrp="1"/>
          </p:cNvSpPr>
          <p:nvPr>
            <p:ph idx="1"/>
          </p:nvPr>
        </p:nvSpPr>
        <p:spPr>
          <a:xfrm>
            <a:off x="1726163" y="1340769"/>
            <a:ext cx="9535885" cy="4321901"/>
          </a:xfrm>
        </p:spPr>
        <p:txBody>
          <a:bodyPr>
            <a:normAutofit/>
          </a:bodyPr>
          <a:lstStyle/>
          <a:p>
            <a:pPr marL="0" indent="0">
              <a:buNone/>
            </a:pPr>
            <a:r>
              <a:rPr lang="fr-FR" sz="3200" b="1" dirty="0">
                <a:solidFill>
                  <a:schemeClr val="tx1">
                    <a:lumMod val="50000"/>
                    <a:lumOff val="50000"/>
                  </a:schemeClr>
                </a:solidFill>
                <a:latin typeface="Acumin Pro" panose="020B0504020202020204" pitchFamily="34" charset="77"/>
              </a:rPr>
              <a:t>Stratégie</a:t>
            </a:r>
            <a:r>
              <a:rPr lang="fr-FR" dirty="0">
                <a:solidFill>
                  <a:schemeClr val="tx1">
                    <a:lumMod val="50000"/>
                    <a:lumOff val="50000"/>
                  </a:schemeClr>
                </a:solidFill>
                <a:latin typeface="Acumin Pro" panose="020B0504020202020204" pitchFamily="34" charset="77"/>
              </a:rPr>
              <a:t>: </a:t>
            </a:r>
            <a:r>
              <a:rPr lang="fr-FR" u="sng" dirty="0">
                <a:solidFill>
                  <a:schemeClr val="tx1">
                    <a:lumMod val="50000"/>
                    <a:lumOff val="50000"/>
                  </a:schemeClr>
                </a:solidFill>
                <a:latin typeface="Acumin Pro" panose="020B0504020202020204" pitchFamily="34" charset="77"/>
              </a:rPr>
              <a:t>Coopératives ou groupement des intervenants</a:t>
            </a:r>
          </a:p>
          <a:p>
            <a:pPr marL="0" indent="0">
              <a:buNone/>
            </a:pPr>
            <a:r>
              <a:rPr lang="fr-FR" dirty="0">
                <a:solidFill>
                  <a:schemeClr val="tx1">
                    <a:lumMod val="50000"/>
                    <a:lumOff val="50000"/>
                  </a:schemeClr>
                </a:solidFill>
                <a:latin typeface="Acumin Pro" panose="020B0504020202020204" pitchFamily="34" charset="77"/>
              </a:rPr>
              <a:t>‘’L’union fait la force’’, et voyant l’échec dans l’entrepreneuriat agricole en RDC qui repose aussi sur l’isolement, nous avons résolu monter notre approche d’intervention sur la stratégie de regroupement des producteurs et autres acteurs dans la chaine de valeur en coopérative.</a:t>
            </a:r>
          </a:p>
          <a:p>
            <a:pPr marL="0" indent="0">
              <a:buNone/>
            </a:pPr>
            <a:r>
              <a:rPr lang="fr-FR" dirty="0">
                <a:solidFill>
                  <a:schemeClr val="tx1">
                    <a:lumMod val="50000"/>
                    <a:lumOff val="50000"/>
                  </a:schemeClr>
                </a:solidFill>
                <a:latin typeface="Acumin Pro" panose="020B0504020202020204" pitchFamily="34" charset="77"/>
              </a:rPr>
              <a:t>Mais aussi en utilisant les </a:t>
            </a:r>
            <a:r>
              <a:rPr lang="fr-FR" b="1" dirty="0">
                <a:solidFill>
                  <a:schemeClr val="tx1">
                    <a:lumMod val="50000"/>
                    <a:lumOff val="50000"/>
                  </a:schemeClr>
                </a:solidFill>
                <a:latin typeface="Acumin Pro" panose="020B0504020202020204" pitchFamily="34" charset="77"/>
              </a:rPr>
              <a:t>compétences</a:t>
            </a:r>
            <a:r>
              <a:rPr lang="fr-FR" dirty="0">
                <a:solidFill>
                  <a:schemeClr val="tx1">
                    <a:lumMod val="50000"/>
                    <a:lumOff val="50000"/>
                  </a:schemeClr>
                </a:solidFill>
                <a:latin typeface="Acumin Pro" panose="020B0504020202020204" pitchFamily="34" charset="77"/>
              </a:rPr>
              <a:t> ainsi que la </a:t>
            </a:r>
            <a:r>
              <a:rPr lang="fr-FR" b="1" dirty="0">
                <a:solidFill>
                  <a:schemeClr val="tx1">
                    <a:lumMod val="50000"/>
                    <a:lumOff val="50000"/>
                  </a:schemeClr>
                </a:solidFill>
                <a:latin typeface="Acumin Pro" panose="020B0504020202020204" pitchFamily="34" charset="77"/>
              </a:rPr>
              <a:t>technologie</a:t>
            </a:r>
            <a:r>
              <a:rPr lang="fr-FR" dirty="0">
                <a:solidFill>
                  <a:schemeClr val="tx1">
                    <a:lumMod val="50000"/>
                    <a:lumOff val="50000"/>
                  </a:schemeClr>
                </a:solidFill>
                <a:latin typeface="Acumin Pro" panose="020B0504020202020204" pitchFamily="34" charset="77"/>
              </a:rPr>
              <a:t> pour se différencier du traditionnel</a:t>
            </a:r>
          </a:p>
          <a:p>
            <a:pPr marL="0" indent="0">
              <a:buNone/>
            </a:pPr>
            <a:endParaRPr lang="fr-FR" dirty="0"/>
          </a:p>
        </p:txBody>
      </p:sp>
      <p:pic>
        <p:nvPicPr>
          <p:cNvPr id="4" name="Picture 3" descr="Logo, company name&#10;&#10;Description automatically generated">
            <a:extLst>
              <a:ext uri="{FF2B5EF4-FFF2-40B4-BE49-F238E27FC236}">
                <a16:creationId xmlns:a16="http://schemas.microsoft.com/office/drawing/2014/main" id="{6206F180-9C64-1667-7C93-EAB783EA44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8236" y="5517231"/>
            <a:ext cx="2791602" cy="134076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solidFill>
                  <a:schemeClr val="tx1">
                    <a:lumMod val="50000"/>
                    <a:lumOff val="50000"/>
                  </a:schemeClr>
                </a:solidFill>
                <a:latin typeface="Acumin Pro" panose="020B0504020202020204" pitchFamily="34" charset="77"/>
              </a:rPr>
              <a:t>#5. Qu’est qui est plus important pour nous maintenant?</a:t>
            </a:r>
          </a:p>
        </p:txBody>
      </p:sp>
      <p:sp>
        <p:nvSpPr>
          <p:cNvPr id="3" name="Espace réservé du contenu 2"/>
          <p:cNvSpPr>
            <a:spLocks noGrp="1"/>
          </p:cNvSpPr>
          <p:nvPr>
            <p:ph idx="1"/>
          </p:nvPr>
        </p:nvSpPr>
        <p:spPr/>
        <p:txBody>
          <a:bodyPr>
            <a:normAutofit/>
          </a:bodyPr>
          <a:lstStyle/>
          <a:p>
            <a:r>
              <a:rPr lang="fr-FR" sz="3200" dirty="0">
                <a:solidFill>
                  <a:schemeClr val="tx1">
                    <a:lumMod val="50000"/>
                    <a:lumOff val="50000"/>
                  </a:schemeClr>
                </a:solidFill>
                <a:latin typeface="Acumin Pro" panose="020B0504020202020204" pitchFamily="34" charset="77"/>
              </a:rPr>
              <a:t>Le travail reste notre priorité, la satisfaction de nos partenaires (producteurs, intermédiaires, clients, …)</a:t>
            </a:r>
          </a:p>
          <a:p>
            <a:r>
              <a:rPr lang="fr-FR" sz="3200" dirty="0">
                <a:solidFill>
                  <a:schemeClr val="tx1">
                    <a:lumMod val="50000"/>
                    <a:lumOff val="50000"/>
                  </a:schemeClr>
                </a:solidFill>
                <a:latin typeface="Acumin Pro" panose="020B0504020202020204" pitchFamily="34" charset="77"/>
              </a:rPr>
              <a:t>Nous évaluons et produisons un rapport pour chaque étape de notre travail ou projet (suivi, évaluation et qualité)</a:t>
            </a:r>
          </a:p>
          <a:p>
            <a:r>
              <a:rPr lang="fr-FR" sz="3200" dirty="0">
                <a:solidFill>
                  <a:schemeClr val="tx1">
                    <a:lumMod val="50000"/>
                    <a:lumOff val="50000"/>
                  </a:schemeClr>
                </a:solidFill>
                <a:latin typeface="Acumin Pro" panose="020B0504020202020204" pitchFamily="34" charset="77"/>
              </a:rPr>
              <a:t>Notre personnel à l’embauche doit s’engager aux priorités de l’entreprise: le travail d’abord</a:t>
            </a:r>
          </a:p>
        </p:txBody>
      </p:sp>
      <p:pic>
        <p:nvPicPr>
          <p:cNvPr id="4" name="Picture 3" descr="Logo, company name&#10;&#10;Description automatically generated">
            <a:extLst>
              <a:ext uri="{FF2B5EF4-FFF2-40B4-BE49-F238E27FC236}">
                <a16:creationId xmlns:a16="http://schemas.microsoft.com/office/drawing/2014/main" id="{80A1C962-8637-C1BE-95AB-5A52786E00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6741" y="4916773"/>
            <a:ext cx="2960557" cy="163819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solidFill>
                  <a:schemeClr val="tx1">
                    <a:lumMod val="50000"/>
                    <a:lumOff val="50000"/>
                  </a:schemeClr>
                </a:solidFill>
                <a:latin typeface="Acumin Pro" panose="020B0504020202020204" pitchFamily="34" charset="77"/>
              </a:rPr>
              <a:t>#6. Qui doit faire quoi?</a:t>
            </a:r>
          </a:p>
        </p:txBody>
      </p:sp>
      <p:sp>
        <p:nvSpPr>
          <p:cNvPr id="3" name="Espace réservé du contenu 2"/>
          <p:cNvSpPr>
            <a:spLocks noGrp="1"/>
          </p:cNvSpPr>
          <p:nvPr>
            <p:ph idx="1"/>
          </p:nvPr>
        </p:nvSpPr>
        <p:spPr>
          <a:xfrm>
            <a:off x="1981200" y="1340769"/>
            <a:ext cx="8229600" cy="4785395"/>
          </a:xfrm>
        </p:spPr>
        <p:txBody>
          <a:bodyPr>
            <a:normAutofit/>
          </a:bodyPr>
          <a:lstStyle/>
          <a:p>
            <a:r>
              <a:rPr lang="fr-FR" dirty="0">
                <a:solidFill>
                  <a:schemeClr val="tx1">
                    <a:lumMod val="50000"/>
                    <a:lumOff val="50000"/>
                  </a:schemeClr>
                </a:solidFill>
                <a:latin typeface="Acumin Pro" panose="020B0504020202020204" pitchFamily="34" charset="77"/>
              </a:rPr>
              <a:t>Le </a:t>
            </a:r>
            <a:r>
              <a:rPr lang="fr-FR" b="1" dirty="0">
                <a:solidFill>
                  <a:schemeClr val="tx1">
                    <a:lumMod val="50000"/>
                    <a:lumOff val="50000"/>
                  </a:schemeClr>
                </a:solidFill>
                <a:latin typeface="Acumin Pro" panose="020B0504020202020204" pitchFamily="34" charset="77"/>
              </a:rPr>
              <a:t>personnel technique</a:t>
            </a:r>
            <a:r>
              <a:rPr lang="fr-FR" dirty="0">
                <a:solidFill>
                  <a:schemeClr val="tx1">
                    <a:lumMod val="50000"/>
                    <a:lumOff val="50000"/>
                  </a:schemeClr>
                </a:solidFill>
                <a:latin typeface="Acumin Pro" panose="020B0504020202020204" pitchFamily="34" charset="77"/>
              </a:rPr>
              <a:t>: lui s’occupe de la conception et de la mise en œuvre des projets</a:t>
            </a:r>
          </a:p>
          <a:p>
            <a:r>
              <a:rPr lang="fr-FR" dirty="0">
                <a:solidFill>
                  <a:schemeClr val="tx1">
                    <a:lumMod val="50000"/>
                    <a:lumOff val="50000"/>
                  </a:schemeClr>
                </a:solidFill>
                <a:latin typeface="Acumin Pro" panose="020B0504020202020204" pitchFamily="34" charset="77"/>
              </a:rPr>
              <a:t>Le </a:t>
            </a:r>
            <a:r>
              <a:rPr lang="fr-FR" b="1" dirty="0">
                <a:solidFill>
                  <a:schemeClr val="tx1">
                    <a:lumMod val="50000"/>
                    <a:lumOff val="50000"/>
                  </a:schemeClr>
                </a:solidFill>
                <a:latin typeface="Acumin Pro" panose="020B0504020202020204" pitchFamily="34" charset="77"/>
              </a:rPr>
              <a:t>personnel administratif et de support</a:t>
            </a:r>
            <a:r>
              <a:rPr lang="fr-FR" dirty="0">
                <a:solidFill>
                  <a:schemeClr val="tx1">
                    <a:lumMod val="50000"/>
                    <a:lumOff val="50000"/>
                  </a:schemeClr>
                </a:solidFill>
                <a:latin typeface="Acumin Pro" panose="020B0504020202020204" pitchFamily="34" charset="77"/>
              </a:rPr>
              <a:t>: celui-ci vient en appui au personnel technique pour l’atteinte des objectifs et joue de pont avec les clients</a:t>
            </a:r>
          </a:p>
          <a:p>
            <a:r>
              <a:rPr lang="fr-FR" dirty="0">
                <a:solidFill>
                  <a:schemeClr val="tx1">
                    <a:lumMod val="50000"/>
                    <a:lumOff val="50000"/>
                  </a:schemeClr>
                </a:solidFill>
                <a:latin typeface="Acumin Pro" panose="020B0504020202020204" pitchFamily="34" charset="77"/>
              </a:rPr>
              <a:t>Les </a:t>
            </a:r>
            <a:r>
              <a:rPr lang="fr-FR" b="1" dirty="0">
                <a:solidFill>
                  <a:schemeClr val="tx1">
                    <a:lumMod val="50000"/>
                    <a:lumOff val="50000"/>
                  </a:schemeClr>
                </a:solidFill>
                <a:latin typeface="Acumin Pro" panose="020B0504020202020204" pitchFamily="34" charset="77"/>
              </a:rPr>
              <a:t>partenaires</a:t>
            </a:r>
            <a:r>
              <a:rPr lang="fr-FR" dirty="0">
                <a:solidFill>
                  <a:schemeClr val="tx1">
                    <a:lumMod val="50000"/>
                    <a:lumOff val="50000"/>
                  </a:schemeClr>
                </a:solidFill>
                <a:latin typeface="Acumin Pro" panose="020B0504020202020204" pitchFamily="34" charset="77"/>
              </a:rPr>
              <a:t>: ceux-ci travaillent avec nous pour des taches spécifiques mais dans notre philosophie de travail</a:t>
            </a:r>
          </a:p>
          <a:p>
            <a:r>
              <a:rPr lang="fr-FR" dirty="0">
                <a:solidFill>
                  <a:schemeClr val="tx1">
                    <a:lumMod val="50000"/>
                    <a:lumOff val="50000"/>
                  </a:schemeClr>
                </a:solidFill>
                <a:latin typeface="Acumin Pro" panose="020B0504020202020204" pitchFamily="34" charset="77"/>
              </a:rPr>
              <a:t>Le </a:t>
            </a:r>
            <a:r>
              <a:rPr lang="fr-FR" b="1" dirty="0">
                <a:solidFill>
                  <a:schemeClr val="tx1">
                    <a:lumMod val="50000"/>
                    <a:lumOff val="50000"/>
                  </a:schemeClr>
                </a:solidFill>
                <a:latin typeface="Acumin Pro" panose="020B0504020202020204" pitchFamily="34" charset="77"/>
              </a:rPr>
              <a:t>Management</a:t>
            </a:r>
            <a:r>
              <a:rPr lang="fr-FR" dirty="0">
                <a:solidFill>
                  <a:schemeClr val="tx1">
                    <a:lumMod val="50000"/>
                    <a:lumOff val="50000"/>
                  </a:schemeClr>
                </a:solidFill>
                <a:latin typeface="Acumin Pro" panose="020B0504020202020204" pitchFamily="34" charset="77"/>
              </a:rPr>
              <a:t>: s’occupe de l’organisation et de la gestion générale de l’entreprise</a:t>
            </a:r>
          </a:p>
        </p:txBody>
      </p:sp>
      <p:pic>
        <p:nvPicPr>
          <p:cNvPr id="4" name="Picture 3" descr="Logo, company name&#10;&#10;Description automatically generated">
            <a:extLst>
              <a:ext uri="{FF2B5EF4-FFF2-40B4-BE49-F238E27FC236}">
                <a16:creationId xmlns:a16="http://schemas.microsoft.com/office/drawing/2014/main" id="{E357F8B2-AB39-7D68-EA6F-8FA383DAAC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1443" y="5131377"/>
            <a:ext cx="2960557" cy="16381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C37197-9AE4-4260-8E10-6E651D816695}"/>
              </a:ext>
            </a:extLst>
          </p:cNvPr>
          <p:cNvSpPr>
            <a:spLocks noGrp="1"/>
          </p:cNvSpPr>
          <p:nvPr>
            <p:ph type="title"/>
          </p:nvPr>
        </p:nvSpPr>
        <p:spPr>
          <a:xfrm>
            <a:off x="838200" y="365126"/>
            <a:ext cx="10515600" cy="540310"/>
          </a:xfrm>
        </p:spPr>
        <p:txBody>
          <a:bodyPr>
            <a:normAutofit fontScale="90000"/>
          </a:bodyPr>
          <a:lstStyle/>
          <a:p>
            <a:r>
              <a:rPr lang="fr-FR" b="1" dirty="0">
                <a:solidFill>
                  <a:schemeClr val="tx1">
                    <a:lumMod val="50000"/>
                    <a:lumOff val="50000"/>
                  </a:schemeClr>
                </a:solidFill>
                <a:latin typeface="Acumin Pro" panose="020B0504020202020204" pitchFamily="34" charset="77"/>
              </a:rPr>
              <a:t>Notre personnel</a:t>
            </a:r>
          </a:p>
        </p:txBody>
      </p:sp>
      <p:sp>
        <p:nvSpPr>
          <p:cNvPr id="3" name="Espace réservé du contenu 2">
            <a:extLst>
              <a:ext uri="{FF2B5EF4-FFF2-40B4-BE49-F238E27FC236}">
                <a16:creationId xmlns:a16="http://schemas.microsoft.com/office/drawing/2014/main" id="{0745A016-123E-4B64-B54C-B72D118DBE22}"/>
              </a:ext>
            </a:extLst>
          </p:cNvPr>
          <p:cNvSpPr>
            <a:spLocks noGrp="1"/>
          </p:cNvSpPr>
          <p:nvPr>
            <p:ph idx="1"/>
          </p:nvPr>
        </p:nvSpPr>
        <p:spPr>
          <a:xfrm>
            <a:off x="838199" y="1084728"/>
            <a:ext cx="10833847" cy="5342965"/>
          </a:xfrm>
        </p:spPr>
        <p:txBody>
          <a:bodyPr>
            <a:normAutofit/>
          </a:bodyPr>
          <a:lstStyle/>
          <a:p>
            <a:r>
              <a:rPr lang="fr-FR" dirty="0">
                <a:solidFill>
                  <a:schemeClr val="tx1">
                    <a:lumMod val="50000"/>
                    <a:lumOff val="50000"/>
                  </a:schemeClr>
                </a:solidFill>
                <a:latin typeface="Acumin Pro" panose="020B0504020202020204" pitchFamily="34" charset="77"/>
              </a:rPr>
              <a:t>Direction Générale: Mr David M. KAVUSA</a:t>
            </a:r>
          </a:p>
          <a:p>
            <a:r>
              <a:rPr lang="fr-FR" dirty="0">
                <a:solidFill>
                  <a:schemeClr val="tx1">
                    <a:lumMod val="50000"/>
                    <a:lumOff val="50000"/>
                  </a:schemeClr>
                </a:solidFill>
                <a:latin typeface="Acumin Pro" panose="020B0504020202020204" pitchFamily="34" charset="77"/>
              </a:rPr>
              <a:t>Administration et RH: Mr Jacques K. MUNAHA</a:t>
            </a:r>
          </a:p>
          <a:p>
            <a:r>
              <a:rPr lang="fr-FR" dirty="0">
                <a:solidFill>
                  <a:schemeClr val="tx1">
                    <a:lumMod val="50000"/>
                    <a:lumOff val="50000"/>
                  </a:schemeClr>
                </a:solidFill>
                <a:latin typeface="Acumin Pro" panose="020B0504020202020204" pitchFamily="34" charset="77"/>
              </a:rPr>
              <a:t>Finance: Mme Phenique M. SIVIHWA</a:t>
            </a:r>
          </a:p>
          <a:p>
            <a:r>
              <a:rPr lang="fr-FR" dirty="0">
                <a:solidFill>
                  <a:schemeClr val="tx1">
                    <a:lumMod val="50000"/>
                    <a:lumOff val="50000"/>
                  </a:schemeClr>
                </a:solidFill>
                <a:latin typeface="Acumin Pro" panose="020B0504020202020204" pitchFamily="34" charset="77"/>
              </a:rPr>
              <a:t>Responsable des opérations: Mr Pascal KAZINDU</a:t>
            </a:r>
          </a:p>
          <a:p>
            <a:r>
              <a:rPr lang="fr-FR" dirty="0">
                <a:solidFill>
                  <a:schemeClr val="tx1">
                    <a:lumMod val="50000"/>
                    <a:lumOff val="50000"/>
                  </a:schemeClr>
                </a:solidFill>
                <a:latin typeface="Acumin Pro" panose="020B0504020202020204" pitchFamily="34" charset="77"/>
              </a:rPr>
              <a:t>Responsable des stocks: Mr Patrick KASOGHO</a:t>
            </a:r>
          </a:p>
          <a:p>
            <a:r>
              <a:rPr lang="fr-FR" dirty="0">
                <a:solidFill>
                  <a:schemeClr val="tx1">
                    <a:lumMod val="50000"/>
                    <a:lumOff val="50000"/>
                  </a:schemeClr>
                </a:solidFill>
                <a:latin typeface="Acumin Pro" panose="020B0504020202020204" pitchFamily="34" charset="77"/>
              </a:rPr>
              <a:t>Responsable Qualité: Mlle Milka KATUNGU</a:t>
            </a:r>
          </a:p>
          <a:p>
            <a:r>
              <a:rPr lang="fr-FR" dirty="0">
                <a:solidFill>
                  <a:schemeClr val="tx1">
                    <a:lumMod val="50000"/>
                    <a:lumOff val="50000"/>
                  </a:schemeClr>
                </a:solidFill>
                <a:latin typeface="Acumin Pro" panose="020B0504020202020204" pitchFamily="34" charset="77"/>
              </a:rPr>
              <a:t>Responsable Durabilité: Ir Anicet K. KAPUTU</a:t>
            </a:r>
          </a:p>
          <a:p>
            <a:r>
              <a:rPr lang="fr-FR" dirty="0">
                <a:solidFill>
                  <a:schemeClr val="tx1">
                    <a:lumMod val="50000"/>
                    <a:lumOff val="50000"/>
                  </a:schemeClr>
                </a:solidFill>
                <a:latin typeface="Acumin Pro" panose="020B0504020202020204" pitchFamily="34" charset="77"/>
              </a:rPr>
              <a:t>Magasinière: Mlle Alphonsine KOMBI</a:t>
            </a:r>
          </a:p>
          <a:p>
            <a:pPr marL="0" indent="0">
              <a:buNone/>
            </a:pPr>
            <a:r>
              <a:rPr lang="fr-FR" dirty="0">
                <a:solidFill>
                  <a:schemeClr val="bg1">
                    <a:lumMod val="50000"/>
                  </a:schemeClr>
                </a:solidFill>
                <a:latin typeface="Acumin Pro" panose="020B0504020202020204" pitchFamily="34" charset="77"/>
              </a:rPr>
              <a:t>Nous avons un total de 39 staffs à travers nos 3 sites (Nord-Kivu et Ituri), dont 11 femmes avec des responsabilités clés et décisionnelles au sein de l’entreprise</a:t>
            </a:r>
          </a:p>
          <a:p>
            <a:endParaRPr lang="fr-FR" dirty="0"/>
          </a:p>
        </p:txBody>
      </p:sp>
      <p:pic>
        <p:nvPicPr>
          <p:cNvPr id="4" name="Picture 3" descr="Logo, company name&#10;&#10;Description automatically generated">
            <a:extLst>
              <a:ext uri="{FF2B5EF4-FFF2-40B4-BE49-F238E27FC236}">
                <a16:creationId xmlns:a16="http://schemas.microsoft.com/office/drawing/2014/main" id="{ACB84EFD-04EB-49B6-02C7-EF17FFEA13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3775" y="0"/>
            <a:ext cx="2538168" cy="1404472"/>
          </a:xfrm>
          <a:prstGeom prst="rect">
            <a:avLst/>
          </a:prstGeom>
        </p:spPr>
      </p:pic>
    </p:spTree>
    <p:extLst>
      <p:ext uri="{BB962C8B-B14F-4D97-AF65-F5344CB8AC3E}">
        <p14:creationId xmlns:p14="http://schemas.microsoft.com/office/powerpoint/2010/main" val="1085864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descr="Une image contenant habits, personne, Visage humain, intérieur&#10;&#10;Description générée automatiquement">
            <a:extLst>
              <a:ext uri="{FF2B5EF4-FFF2-40B4-BE49-F238E27FC236}">
                <a16:creationId xmlns:a16="http://schemas.microsoft.com/office/drawing/2014/main" id="{57A280A2-58D8-2DA1-62E8-C8A54D9A4D6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15730"/>
          <a:stretch/>
        </p:blipFill>
        <p:spPr>
          <a:xfrm>
            <a:off x="20" y="10"/>
            <a:ext cx="12191980" cy="6857990"/>
          </a:xfrm>
          <a:prstGeom prst="rect">
            <a:avLst/>
          </a:prstGeom>
        </p:spPr>
      </p:pic>
      <p:sp>
        <p:nvSpPr>
          <p:cNvPr id="2" name="Titre 1">
            <a:extLst>
              <a:ext uri="{FF2B5EF4-FFF2-40B4-BE49-F238E27FC236}">
                <a16:creationId xmlns:a16="http://schemas.microsoft.com/office/drawing/2014/main" id="{5B9AEABA-228B-80E0-3AA6-F635DB9103EC}"/>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dirty="0">
                <a:solidFill>
                  <a:schemeClr val="tx1">
                    <a:lumMod val="85000"/>
                    <a:lumOff val="15000"/>
                  </a:schemeClr>
                </a:solidFill>
                <a:highlight>
                  <a:srgbClr val="C0C0C0"/>
                </a:highlight>
              </a:rPr>
              <a:t>Staffs de BAHARI BENI</a:t>
            </a:r>
          </a:p>
        </p:txBody>
      </p:sp>
    </p:spTree>
    <p:extLst>
      <p:ext uri="{BB962C8B-B14F-4D97-AF65-F5344CB8AC3E}">
        <p14:creationId xmlns:p14="http://schemas.microsoft.com/office/powerpoint/2010/main" val="3992990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4CF097-36CE-43F4-A7D0-6E6E6862F823}"/>
              </a:ext>
            </a:extLst>
          </p:cNvPr>
          <p:cNvSpPr>
            <a:spLocks noGrp="1"/>
          </p:cNvSpPr>
          <p:nvPr>
            <p:ph type="title"/>
          </p:nvPr>
        </p:nvSpPr>
        <p:spPr>
          <a:xfrm>
            <a:off x="838200" y="365126"/>
            <a:ext cx="10515600" cy="791322"/>
          </a:xfrm>
        </p:spPr>
        <p:txBody>
          <a:bodyPr/>
          <a:lstStyle/>
          <a:p>
            <a:r>
              <a:rPr lang="fr-FR" b="1" dirty="0">
                <a:solidFill>
                  <a:schemeClr val="tx1">
                    <a:lumMod val="50000"/>
                    <a:lumOff val="50000"/>
                  </a:schemeClr>
                </a:solidFill>
                <a:latin typeface="Acumin Pro" panose="020B0504020202020204" pitchFamily="34" charset="77"/>
              </a:rPr>
              <a:t>Réalisations depuis la création</a:t>
            </a:r>
          </a:p>
        </p:txBody>
      </p:sp>
      <p:sp>
        <p:nvSpPr>
          <p:cNvPr id="3" name="Espace réservé du contenu 2">
            <a:extLst>
              <a:ext uri="{FF2B5EF4-FFF2-40B4-BE49-F238E27FC236}">
                <a16:creationId xmlns:a16="http://schemas.microsoft.com/office/drawing/2014/main" id="{512BFB77-2FAB-40D6-9CDC-41B331C0D9E6}"/>
              </a:ext>
            </a:extLst>
          </p:cNvPr>
          <p:cNvSpPr>
            <a:spLocks noGrp="1"/>
          </p:cNvSpPr>
          <p:nvPr>
            <p:ph idx="1"/>
          </p:nvPr>
        </p:nvSpPr>
        <p:spPr>
          <a:xfrm>
            <a:off x="838200" y="1663794"/>
            <a:ext cx="10515600" cy="4643998"/>
          </a:xfrm>
        </p:spPr>
        <p:txBody>
          <a:bodyPr/>
          <a:lstStyle/>
          <a:p>
            <a:pPr marL="0" indent="0">
              <a:buNone/>
            </a:pPr>
            <a:r>
              <a:rPr lang="fr-FR" dirty="0">
                <a:latin typeface="Acumin Pro" panose="020B0504020202020204" pitchFamily="34" charset="77"/>
              </a:rPr>
              <a:t>Pour </a:t>
            </a:r>
            <a:r>
              <a:rPr lang="fr-FR" b="1" dirty="0">
                <a:latin typeface="Acumin Pro" panose="020B0504020202020204" pitchFamily="34" charset="77"/>
              </a:rPr>
              <a:t>les 3 années </a:t>
            </a:r>
            <a:r>
              <a:rPr lang="fr-FR" dirty="0">
                <a:latin typeface="Acumin Pro" panose="020B0504020202020204" pitchFamily="34" charset="77"/>
              </a:rPr>
              <a:t>d’existence (mars 2021-2024) de notre société, nous avons réalisé:</a:t>
            </a:r>
          </a:p>
          <a:p>
            <a:pPr>
              <a:buFont typeface="Wingdings" panose="05000000000000000000" pitchFamily="2" charset="2"/>
              <a:buChar char="§"/>
            </a:pPr>
            <a:r>
              <a:rPr lang="fr-FR" dirty="0">
                <a:latin typeface="Acumin Pro" panose="020B0504020202020204" pitchFamily="34" charset="77"/>
              </a:rPr>
              <a:t>Exportation de plus de 12’832 tonnes de cacao</a:t>
            </a:r>
          </a:p>
          <a:p>
            <a:pPr>
              <a:buFont typeface="Wingdings" panose="05000000000000000000" pitchFamily="2" charset="2"/>
              <a:buChar char="§"/>
            </a:pPr>
            <a:r>
              <a:rPr lang="fr-FR" dirty="0">
                <a:latin typeface="Acumin Pro" panose="020B0504020202020204" pitchFamily="34" charset="77"/>
              </a:rPr>
              <a:t>Ouverture de 4 magasins connexes (Nobili, Bunia, Kasindi et Mambasa)</a:t>
            </a:r>
          </a:p>
          <a:p>
            <a:pPr>
              <a:buFont typeface="Wingdings" panose="05000000000000000000" pitchFamily="2" charset="2"/>
              <a:buChar char="§"/>
            </a:pPr>
            <a:r>
              <a:rPr lang="fr-FR" dirty="0">
                <a:latin typeface="Acumin Pro" panose="020B0504020202020204" pitchFamily="34" charset="77"/>
              </a:rPr>
              <a:t>Contrat d’achat avec 6 coopératives agricoles (Nord-Kivu et Ituri)</a:t>
            </a:r>
          </a:p>
          <a:p>
            <a:pPr>
              <a:buFont typeface="Wingdings" panose="05000000000000000000" pitchFamily="2" charset="2"/>
              <a:buChar char="§"/>
            </a:pPr>
            <a:r>
              <a:rPr lang="fr-FR" dirty="0">
                <a:latin typeface="Acumin Pro" panose="020B0504020202020204" pitchFamily="34" charset="77"/>
              </a:rPr>
              <a:t>Appui pour enregistrement des planteurs de la coopérative MCK COOP-CA (Territoire de Beni, Nord-Kivu)</a:t>
            </a:r>
          </a:p>
          <a:p>
            <a:pPr>
              <a:buFont typeface="Wingdings" panose="05000000000000000000" pitchFamily="2" charset="2"/>
              <a:buChar char="§"/>
            </a:pPr>
            <a:r>
              <a:rPr lang="fr-FR" dirty="0">
                <a:latin typeface="Acumin Pro" panose="020B0504020202020204" pitchFamily="34" charset="77"/>
              </a:rPr>
              <a:t>Installation d’un séchoir pour faciliter le séchage avec les perturbations climatiques à Beni</a:t>
            </a:r>
          </a:p>
        </p:txBody>
      </p:sp>
      <p:pic>
        <p:nvPicPr>
          <p:cNvPr id="4" name="Picture 3" descr="Logo, company name&#10;&#10;Description automatically generated">
            <a:extLst>
              <a:ext uri="{FF2B5EF4-FFF2-40B4-BE49-F238E27FC236}">
                <a16:creationId xmlns:a16="http://schemas.microsoft.com/office/drawing/2014/main" id="{9E6B6A65-1752-5028-E86B-4EFF7BC5F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5968" y="5381718"/>
            <a:ext cx="2667943" cy="1476282"/>
          </a:xfrm>
          <a:prstGeom prst="rect">
            <a:avLst/>
          </a:prstGeom>
        </p:spPr>
      </p:pic>
    </p:spTree>
    <p:extLst>
      <p:ext uri="{BB962C8B-B14F-4D97-AF65-F5344CB8AC3E}">
        <p14:creationId xmlns:p14="http://schemas.microsoft.com/office/powerpoint/2010/main" val="1758668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491FD4-1B7B-411E-B061-26579660819C}"/>
              </a:ext>
            </a:extLst>
          </p:cNvPr>
          <p:cNvSpPr>
            <a:spLocks noGrp="1"/>
          </p:cNvSpPr>
          <p:nvPr>
            <p:ph type="title"/>
          </p:nvPr>
        </p:nvSpPr>
        <p:spPr/>
        <p:txBody>
          <a:bodyPr/>
          <a:lstStyle/>
          <a:p>
            <a:r>
              <a:rPr lang="fr-FR" dirty="0">
                <a:solidFill>
                  <a:schemeClr val="tx1">
                    <a:lumMod val="50000"/>
                    <a:lumOff val="50000"/>
                  </a:schemeClr>
                </a:solidFill>
                <a:latin typeface="Acumin Pro" panose="020B0504020202020204" pitchFamily="34" charset="77"/>
              </a:rPr>
              <a:t>Nos partenaires</a:t>
            </a:r>
          </a:p>
        </p:txBody>
      </p:sp>
      <p:sp>
        <p:nvSpPr>
          <p:cNvPr id="3" name="Espace réservé du texte 2">
            <a:extLst>
              <a:ext uri="{FF2B5EF4-FFF2-40B4-BE49-F238E27FC236}">
                <a16:creationId xmlns:a16="http://schemas.microsoft.com/office/drawing/2014/main" id="{D45B2F9B-D23B-423C-9884-94C4269A14B2}"/>
              </a:ext>
            </a:extLst>
          </p:cNvPr>
          <p:cNvSpPr>
            <a:spLocks noGrp="1"/>
          </p:cNvSpPr>
          <p:nvPr>
            <p:ph type="body" idx="1"/>
          </p:nvPr>
        </p:nvSpPr>
        <p:spPr/>
        <p:txBody>
          <a:bodyPr/>
          <a:lstStyle/>
          <a:p>
            <a:r>
              <a:rPr lang="fr-FR" dirty="0">
                <a:solidFill>
                  <a:schemeClr val="tx1">
                    <a:lumMod val="50000"/>
                    <a:lumOff val="50000"/>
                  </a:schemeClr>
                </a:solidFill>
                <a:latin typeface="Acumin Pro" panose="020B0504020202020204" pitchFamily="34" charset="77"/>
              </a:rPr>
              <a:t>Coopératives (programme de durabilité)</a:t>
            </a:r>
          </a:p>
        </p:txBody>
      </p:sp>
      <p:sp>
        <p:nvSpPr>
          <p:cNvPr id="4" name="Espace réservé du contenu 3">
            <a:extLst>
              <a:ext uri="{FF2B5EF4-FFF2-40B4-BE49-F238E27FC236}">
                <a16:creationId xmlns:a16="http://schemas.microsoft.com/office/drawing/2014/main" id="{88DEC289-A0A2-496F-BF5B-91C2A2790648}"/>
              </a:ext>
            </a:extLst>
          </p:cNvPr>
          <p:cNvSpPr>
            <a:spLocks noGrp="1"/>
          </p:cNvSpPr>
          <p:nvPr>
            <p:ph sz="half" idx="2"/>
          </p:nvPr>
        </p:nvSpPr>
        <p:spPr>
          <a:xfrm>
            <a:off x="839789" y="2505075"/>
            <a:ext cx="3461624" cy="3149276"/>
          </a:xfrm>
        </p:spPr>
        <p:txBody>
          <a:bodyPr>
            <a:normAutofit/>
          </a:bodyPr>
          <a:lstStyle/>
          <a:p>
            <a:pPr>
              <a:buFontTx/>
              <a:buChar char="-"/>
            </a:pPr>
            <a:r>
              <a:rPr lang="fr-FR" sz="2400" dirty="0">
                <a:solidFill>
                  <a:schemeClr val="tx1">
                    <a:lumMod val="50000"/>
                    <a:lumOff val="50000"/>
                  </a:schemeClr>
                </a:solidFill>
                <a:latin typeface="Acumin Pro" panose="020B0504020202020204" pitchFamily="34" charset="77"/>
              </a:rPr>
              <a:t>MCK COOP-CA</a:t>
            </a:r>
          </a:p>
          <a:p>
            <a:pPr>
              <a:buFontTx/>
              <a:buChar char="-"/>
            </a:pPr>
            <a:r>
              <a:rPr lang="fr-FR" sz="2400" dirty="0">
                <a:solidFill>
                  <a:schemeClr val="tx1">
                    <a:lumMod val="50000"/>
                    <a:lumOff val="50000"/>
                  </a:schemeClr>
                </a:solidFill>
                <a:latin typeface="Acumin Pro" panose="020B0504020202020204" pitchFamily="34" charset="77"/>
              </a:rPr>
              <a:t>UPCCO</a:t>
            </a:r>
          </a:p>
          <a:p>
            <a:pPr>
              <a:buFontTx/>
              <a:buChar char="-"/>
            </a:pPr>
            <a:r>
              <a:rPr lang="fr-FR" sz="2400" dirty="0">
                <a:solidFill>
                  <a:schemeClr val="tx1">
                    <a:lumMod val="50000"/>
                    <a:lumOff val="50000"/>
                  </a:schemeClr>
                </a:solidFill>
                <a:latin typeface="Acumin Pro" panose="020B0504020202020204" pitchFamily="34" charset="77"/>
              </a:rPr>
              <a:t>SYCCODEP</a:t>
            </a:r>
          </a:p>
          <a:p>
            <a:pPr>
              <a:buFontTx/>
              <a:buChar char="-"/>
            </a:pPr>
            <a:r>
              <a:rPr lang="fr-FR" sz="2400" dirty="0">
                <a:solidFill>
                  <a:schemeClr val="tx1">
                    <a:lumMod val="50000"/>
                    <a:lumOff val="50000"/>
                  </a:schemeClr>
                </a:solidFill>
                <a:latin typeface="Acumin Pro" panose="020B0504020202020204" pitchFamily="34" charset="77"/>
              </a:rPr>
              <a:t>CACAO OKAPI</a:t>
            </a:r>
          </a:p>
          <a:p>
            <a:pPr>
              <a:buFontTx/>
              <a:buChar char="-"/>
            </a:pPr>
            <a:r>
              <a:rPr lang="fr-FR" sz="2400" dirty="0">
                <a:solidFill>
                  <a:schemeClr val="tx1">
                    <a:lumMod val="50000"/>
                    <a:lumOff val="50000"/>
                  </a:schemeClr>
                </a:solidFill>
                <a:latin typeface="Acumin Pro" panose="020B0504020202020204" pitchFamily="34" charset="77"/>
              </a:rPr>
              <a:t>COOPROCABE</a:t>
            </a:r>
          </a:p>
          <a:p>
            <a:pPr marL="0" indent="0">
              <a:buNone/>
            </a:pPr>
            <a:endParaRPr lang="fr-FR" dirty="0"/>
          </a:p>
        </p:txBody>
      </p:sp>
      <p:sp>
        <p:nvSpPr>
          <p:cNvPr id="9" name="ZoneTexte 8">
            <a:extLst>
              <a:ext uri="{FF2B5EF4-FFF2-40B4-BE49-F238E27FC236}">
                <a16:creationId xmlns:a16="http://schemas.microsoft.com/office/drawing/2014/main" id="{1E9A0B2C-4E1E-4E19-ADD6-20B3AB9876B9}"/>
              </a:ext>
            </a:extLst>
          </p:cNvPr>
          <p:cNvSpPr txBox="1"/>
          <p:nvPr/>
        </p:nvSpPr>
        <p:spPr>
          <a:xfrm>
            <a:off x="5997575" y="1690688"/>
            <a:ext cx="4769223" cy="2677656"/>
          </a:xfrm>
          <a:prstGeom prst="rect">
            <a:avLst/>
          </a:prstGeom>
          <a:noFill/>
        </p:spPr>
        <p:txBody>
          <a:bodyPr wrap="square">
            <a:spAutoFit/>
          </a:bodyPr>
          <a:lstStyle/>
          <a:p>
            <a:pPr marL="285750" indent="-285750">
              <a:buFont typeface="Arial" panose="020B0604020202020204" pitchFamily="34" charset="0"/>
              <a:buChar char="•"/>
            </a:pPr>
            <a:r>
              <a:rPr lang="fr-FR" sz="2400" b="1" dirty="0">
                <a:solidFill>
                  <a:schemeClr val="tx1">
                    <a:lumMod val="50000"/>
                    <a:lumOff val="50000"/>
                  </a:schemeClr>
                </a:solidFill>
                <a:latin typeface="Acumin Pro" panose="020B0504020202020204" pitchFamily="34" charset="77"/>
              </a:rPr>
              <a:t>Extérieur</a:t>
            </a:r>
          </a:p>
          <a:p>
            <a:pPr marL="0" indent="0">
              <a:buNone/>
            </a:pPr>
            <a:r>
              <a:rPr lang="fr-FR" sz="2400" dirty="0">
                <a:solidFill>
                  <a:schemeClr val="tx1">
                    <a:lumMod val="50000"/>
                    <a:lumOff val="50000"/>
                  </a:schemeClr>
                </a:solidFill>
                <a:latin typeface="Acumin Pro" panose="020B0504020202020204" pitchFamily="34" charset="77"/>
              </a:rPr>
              <a:t>- COCOASOURCE SA</a:t>
            </a:r>
          </a:p>
          <a:p>
            <a:pPr marL="0" indent="0">
              <a:buNone/>
            </a:pPr>
            <a:endParaRPr lang="fr-FR" sz="2400" dirty="0">
              <a:solidFill>
                <a:schemeClr val="tx1">
                  <a:lumMod val="50000"/>
                  <a:lumOff val="50000"/>
                </a:schemeClr>
              </a:solidFill>
              <a:latin typeface="Acumin Pro" panose="020B0504020202020204" pitchFamily="34" charset="77"/>
            </a:endParaRPr>
          </a:p>
          <a:p>
            <a:pPr marL="285750" indent="-285750">
              <a:buFont typeface="Arial" panose="020B0604020202020204" pitchFamily="34" charset="0"/>
              <a:buChar char="•"/>
            </a:pPr>
            <a:r>
              <a:rPr lang="fr-FR" sz="2400" b="1" dirty="0">
                <a:solidFill>
                  <a:schemeClr val="tx1">
                    <a:lumMod val="50000"/>
                    <a:lumOff val="50000"/>
                  </a:schemeClr>
                </a:solidFill>
                <a:latin typeface="Acumin Pro" panose="020B0504020202020204" pitchFamily="34" charset="77"/>
              </a:rPr>
              <a:t>Banques</a:t>
            </a:r>
            <a:r>
              <a:rPr lang="fr-FR" sz="2400" dirty="0">
                <a:solidFill>
                  <a:schemeClr val="tx1">
                    <a:lumMod val="50000"/>
                    <a:lumOff val="50000"/>
                  </a:schemeClr>
                </a:solidFill>
                <a:latin typeface="Acumin Pro" panose="020B0504020202020204" pitchFamily="34" charset="77"/>
              </a:rPr>
              <a:t>:</a:t>
            </a:r>
          </a:p>
          <a:p>
            <a:pPr marL="342900" indent="-342900">
              <a:buFontTx/>
              <a:buChar char="-"/>
            </a:pPr>
            <a:r>
              <a:rPr lang="fr-FR" sz="2400" dirty="0">
                <a:solidFill>
                  <a:schemeClr val="tx1">
                    <a:lumMod val="50000"/>
                    <a:lumOff val="50000"/>
                  </a:schemeClr>
                </a:solidFill>
                <a:latin typeface="Acumin Pro" panose="020B0504020202020204" pitchFamily="34" charset="77"/>
              </a:rPr>
              <a:t>RAWBANK SA</a:t>
            </a:r>
          </a:p>
          <a:p>
            <a:pPr marL="342900" indent="-342900">
              <a:buFontTx/>
              <a:buChar char="-"/>
            </a:pPr>
            <a:r>
              <a:rPr lang="fr-FR" sz="2400" dirty="0">
                <a:solidFill>
                  <a:schemeClr val="tx1">
                    <a:lumMod val="50000"/>
                    <a:lumOff val="50000"/>
                  </a:schemeClr>
                </a:solidFill>
                <a:latin typeface="Acumin Pro" panose="020B0504020202020204" pitchFamily="34" charset="77"/>
              </a:rPr>
              <a:t>EQUITYBCDC</a:t>
            </a:r>
          </a:p>
          <a:p>
            <a:pPr marL="342900" indent="-342900">
              <a:buFontTx/>
              <a:buChar char="-"/>
            </a:pPr>
            <a:r>
              <a:rPr lang="fr-FR" sz="2400" dirty="0">
                <a:solidFill>
                  <a:schemeClr val="tx1">
                    <a:lumMod val="50000"/>
                    <a:lumOff val="50000"/>
                  </a:schemeClr>
                </a:solidFill>
                <a:latin typeface="Acumin Pro" panose="020B0504020202020204" pitchFamily="34" charset="77"/>
              </a:rPr>
              <a:t>TMB</a:t>
            </a:r>
          </a:p>
        </p:txBody>
      </p:sp>
      <p:pic>
        <p:nvPicPr>
          <p:cNvPr id="8" name="Picture 7" descr="Logo, company name&#10;&#10;Description automatically generated">
            <a:extLst>
              <a:ext uri="{FF2B5EF4-FFF2-40B4-BE49-F238E27FC236}">
                <a16:creationId xmlns:a16="http://schemas.microsoft.com/office/drawing/2014/main" id="{3DF2F469-C316-9591-4B8B-54305CD44B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6741" y="4916773"/>
            <a:ext cx="2960557" cy="1638197"/>
          </a:xfrm>
          <a:prstGeom prst="rect">
            <a:avLst/>
          </a:prstGeom>
        </p:spPr>
      </p:pic>
    </p:spTree>
    <p:extLst>
      <p:ext uri="{BB962C8B-B14F-4D97-AF65-F5344CB8AC3E}">
        <p14:creationId xmlns:p14="http://schemas.microsoft.com/office/powerpoint/2010/main" val="1562108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081B79-9F38-4AE1-9870-A80158BBC5C9}"/>
              </a:ext>
            </a:extLst>
          </p:cNvPr>
          <p:cNvSpPr>
            <a:spLocks noGrp="1"/>
          </p:cNvSpPr>
          <p:nvPr>
            <p:ph type="title"/>
          </p:nvPr>
        </p:nvSpPr>
        <p:spPr/>
        <p:txBody>
          <a:bodyPr/>
          <a:lstStyle/>
          <a:p>
            <a:r>
              <a:rPr lang="fr-FR" dirty="0">
                <a:solidFill>
                  <a:schemeClr val="tx1">
                    <a:lumMod val="50000"/>
                    <a:lumOff val="50000"/>
                  </a:schemeClr>
                </a:solidFill>
                <a:latin typeface="Acumin Pro" panose="020B0504020202020204" pitchFamily="34" charset="77"/>
              </a:rPr>
              <a:t>Contacts</a:t>
            </a:r>
          </a:p>
        </p:txBody>
      </p:sp>
      <p:sp>
        <p:nvSpPr>
          <p:cNvPr id="3" name="Espace réservé du contenu 2">
            <a:extLst>
              <a:ext uri="{FF2B5EF4-FFF2-40B4-BE49-F238E27FC236}">
                <a16:creationId xmlns:a16="http://schemas.microsoft.com/office/drawing/2014/main" id="{7A7EB334-DD63-4EE5-AA3C-0151D6027622}"/>
              </a:ext>
            </a:extLst>
          </p:cNvPr>
          <p:cNvSpPr>
            <a:spLocks noGrp="1"/>
          </p:cNvSpPr>
          <p:nvPr>
            <p:ph idx="1"/>
          </p:nvPr>
        </p:nvSpPr>
        <p:spPr>
          <a:xfrm>
            <a:off x="838200" y="1497106"/>
            <a:ext cx="10515600" cy="4679857"/>
          </a:xfrm>
        </p:spPr>
        <p:txBody>
          <a:bodyPr>
            <a:normAutofit fontScale="92500" lnSpcReduction="10000"/>
          </a:bodyPr>
          <a:lstStyle/>
          <a:p>
            <a:pPr>
              <a:lnSpc>
                <a:spcPct val="100000"/>
              </a:lnSpc>
            </a:pPr>
            <a:r>
              <a:rPr lang="fr-FR" b="1" dirty="0">
                <a:solidFill>
                  <a:schemeClr val="tx1">
                    <a:lumMod val="50000"/>
                    <a:lumOff val="50000"/>
                  </a:schemeClr>
                </a:solidFill>
                <a:latin typeface="Acumin Pro" panose="020B0504020202020204" pitchFamily="34" charset="77"/>
              </a:rPr>
              <a:t>Adresse</a:t>
            </a:r>
            <a:r>
              <a:rPr lang="fr-FR" dirty="0">
                <a:solidFill>
                  <a:schemeClr val="tx1">
                    <a:lumMod val="50000"/>
                    <a:lumOff val="50000"/>
                  </a:schemeClr>
                </a:solidFill>
                <a:latin typeface="Acumin Pro" panose="020B0504020202020204" pitchFamily="34" charset="77"/>
              </a:rPr>
              <a:t>: 102, Rue KALIMULI (RECODI), Commune de </a:t>
            </a:r>
            <a:r>
              <a:rPr lang="fr-FR" dirty="0" err="1">
                <a:solidFill>
                  <a:schemeClr val="tx1">
                    <a:lumMod val="50000"/>
                    <a:lumOff val="50000"/>
                  </a:schemeClr>
                </a:solidFill>
                <a:latin typeface="Acumin Pro" panose="020B0504020202020204" pitchFamily="34" charset="77"/>
              </a:rPr>
              <a:t>Bungulu</a:t>
            </a:r>
            <a:r>
              <a:rPr lang="fr-FR" dirty="0">
                <a:solidFill>
                  <a:schemeClr val="tx1">
                    <a:lumMod val="50000"/>
                    <a:lumOff val="50000"/>
                  </a:schemeClr>
                </a:solidFill>
                <a:latin typeface="Acumin Pro" panose="020B0504020202020204" pitchFamily="34" charset="77"/>
              </a:rPr>
              <a:t>, Ville de Beni, Province du Nord-Kivu, R.D.CONGO</a:t>
            </a:r>
          </a:p>
          <a:p>
            <a:pPr>
              <a:lnSpc>
                <a:spcPct val="100000"/>
              </a:lnSpc>
            </a:pPr>
            <a:r>
              <a:rPr lang="fr-FR" b="1" dirty="0">
                <a:solidFill>
                  <a:schemeClr val="tx1">
                    <a:lumMod val="50000"/>
                    <a:lumOff val="50000"/>
                  </a:schemeClr>
                </a:solidFill>
                <a:latin typeface="Acumin Pro" panose="020B0504020202020204" pitchFamily="34" charset="77"/>
              </a:rPr>
              <a:t>Téléphone</a:t>
            </a:r>
            <a:r>
              <a:rPr lang="fr-FR" dirty="0">
                <a:solidFill>
                  <a:schemeClr val="tx1">
                    <a:lumMod val="50000"/>
                    <a:lumOff val="50000"/>
                  </a:schemeClr>
                </a:solidFill>
                <a:latin typeface="Acumin Pro" panose="020B0504020202020204" pitchFamily="34" charset="77"/>
              </a:rPr>
              <a:t>: +243997039243</a:t>
            </a:r>
          </a:p>
          <a:p>
            <a:pPr>
              <a:lnSpc>
                <a:spcPct val="100000"/>
              </a:lnSpc>
            </a:pPr>
            <a:r>
              <a:rPr lang="fr-FR" b="1" dirty="0">
                <a:solidFill>
                  <a:schemeClr val="tx1">
                    <a:lumMod val="50000"/>
                    <a:lumOff val="50000"/>
                  </a:schemeClr>
                </a:solidFill>
                <a:latin typeface="Acumin Pro" panose="020B0504020202020204" pitchFamily="34" charset="77"/>
              </a:rPr>
              <a:t>E-mail</a:t>
            </a:r>
            <a:r>
              <a:rPr lang="fr-FR" dirty="0">
                <a:solidFill>
                  <a:schemeClr val="tx1">
                    <a:lumMod val="50000"/>
                    <a:lumOff val="50000"/>
                  </a:schemeClr>
                </a:solidFill>
                <a:latin typeface="Acumin Pro" panose="020B0504020202020204" pitchFamily="34" charset="77"/>
              </a:rPr>
              <a:t>: </a:t>
            </a:r>
            <a:r>
              <a:rPr lang="fr-FR" dirty="0">
                <a:solidFill>
                  <a:schemeClr val="tx1">
                    <a:lumMod val="50000"/>
                    <a:lumOff val="50000"/>
                  </a:schemeClr>
                </a:solidFill>
                <a:latin typeface="Acumin Pro" panose="020B0504020202020204" pitchFamily="34" charset="77"/>
                <a:hlinkClick r:id="rId2"/>
              </a:rPr>
              <a:t>contact@bahari-sarl.com</a:t>
            </a:r>
            <a:r>
              <a:rPr lang="fr-FR" dirty="0">
                <a:solidFill>
                  <a:schemeClr val="tx1">
                    <a:lumMod val="50000"/>
                    <a:lumOff val="50000"/>
                  </a:schemeClr>
                </a:solidFill>
                <a:latin typeface="Acumin Pro" panose="020B0504020202020204" pitchFamily="34" charset="77"/>
              </a:rPr>
              <a:t> </a:t>
            </a:r>
          </a:p>
          <a:p>
            <a:pPr>
              <a:lnSpc>
                <a:spcPct val="100000"/>
              </a:lnSpc>
            </a:pPr>
            <a:r>
              <a:rPr lang="fr-FR" dirty="0">
                <a:solidFill>
                  <a:schemeClr val="tx1">
                    <a:lumMod val="50000"/>
                    <a:lumOff val="50000"/>
                  </a:schemeClr>
                </a:solidFill>
                <a:latin typeface="Acumin Pro" panose="020B0504020202020204" pitchFamily="34" charset="77"/>
              </a:rPr>
              <a:t>Web: </a:t>
            </a:r>
            <a:r>
              <a:rPr lang="fr-FR" dirty="0">
                <a:solidFill>
                  <a:schemeClr val="tx1">
                    <a:lumMod val="50000"/>
                    <a:lumOff val="50000"/>
                  </a:schemeClr>
                </a:solidFill>
                <a:latin typeface="Acumin Pro" panose="020B0504020202020204" pitchFamily="34" charset="77"/>
                <a:hlinkClick r:id="rId3"/>
              </a:rPr>
              <a:t>www.bahari-sarl.com</a:t>
            </a:r>
            <a:r>
              <a:rPr lang="fr-FR" dirty="0">
                <a:solidFill>
                  <a:schemeClr val="tx1">
                    <a:lumMod val="50000"/>
                    <a:lumOff val="50000"/>
                  </a:schemeClr>
                </a:solidFill>
                <a:latin typeface="Acumin Pro" panose="020B0504020202020204" pitchFamily="34" charset="77"/>
              </a:rPr>
              <a:t> </a:t>
            </a:r>
          </a:p>
          <a:p>
            <a:pPr algn="just">
              <a:lnSpc>
                <a:spcPct val="100000"/>
              </a:lnSpc>
              <a:spcAft>
                <a:spcPts val="800"/>
              </a:spcAft>
            </a:pPr>
            <a:r>
              <a:rPr lang="en-US" b="1" spc="75" dirty="0">
                <a:solidFill>
                  <a:schemeClr val="tx1">
                    <a:lumMod val="50000"/>
                    <a:lumOff val="50000"/>
                  </a:schemeClr>
                </a:solidFill>
                <a:effectLst/>
                <a:latin typeface="Acumin Pro" panose="020B0504020202020204" pitchFamily="34" charset="77"/>
                <a:ea typeface="Times New Roman" panose="02020603050405020304" pitchFamily="18" charset="0"/>
                <a:cs typeface="Calibri" panose="020F0502020204030204" pitchFamily="34" charset="0"/>
              </a:rPr>
              <a:t>RCCM</a:t>
            </a:r>
            <a:r>
              <a:rPr lang="en-US" spc="75" dirty="0">
                <a:solidFill>
                  <a:schemeClr val="tx1">
                    <a:lumMod val="50000"/>
                    <a:lumOff val="50000"/>
                  </a:schemeClr>
                </a:solidFill>
                <a:effectLst/>
                <a:latin typeface="Acumin Pro" panose="020B0504020202020204" pitchFamily="34" charset="77"/>
                <a:ea typeface="Times New Roman" panose="02020603050405020304" pitchFamily="18" charset="0"/>
                <a:cs typeface="Calibri" panose="020F0502020204030204" pitchFamily="34" charset="0"/>
              </a:rPr>
              <a:t>: GOM/RCCM/21-B-00070</a:t>
            </a:r>
            <a:endParaRPr lang="fr-FR" spc="75" dirty="0">
              <a:solidFill>
                <a:schemeClr val="tx1">
                  <a:lumMod val="50000"/>
                  <a:lumOff val="50000"/>
                </a:schemeClr>
              </a:solidFill>
              <a:effectLst/>
              <a:latin typeface="Acumin Pro" panose="020B0504020202020204" pitchFamily="34" charset="77"/>
              <a:ea typeface="Times New Roman" panose="02020603050405020304" pitchFamily="18" charset="0"/>
              <a:cs typeface="Times New Roman" panose="02020603050405020304" pitchFamily="18" charset="0"/>
            </a:endParaRPr>
          </a:p>
          <a:p>
            <a:pPr>
              <a:lnSpc>
                <a:spcPct val="100000"/>
              </a:lnSpc>
              <a:spcAft>
                <a:spcPts val="800"/>
              </a:spcAft>
            </a:pPr>
            <a:r>
              <a:rPr lang="en-US" b="1" dirty="0">
                <a:solidFill>
                  <a:schemeClr val="tx1">
                    <a:lumMod val="50000"/>
                    <a:lumOff val="50000"/>
                  </a:schemeClr>
                </a:solidFill>
                <a:effectLst/>
                <a:latin typeface="Acumin Pro" panose="020B0504020202020204" pitchFamily="34" charset="77"/>
                <a:ea typeface="Calibri" panose="020F0502020204030204" pitchFamily="34" charset="0"/>
                <a:cs typeface="Calibri" panose="020F0502020204030204" pitchFamily="34" charset="0"/>
              </a:rPr>
              <a:t>ID. NAT</a:t>
            </a:r>
            <a:r>
              <a:rPr lang="en-US" dirty="0">
                <a:solidFill>
                  <a:schemeClr val="tx1">
                    <a:lumMod val="50000"/>
                    <a:lumOff val="50000"/>
                  </a:schemeClr>
                </a:solidFill>
                <a:effectLst/>
                <a:latin typeface="Acumin Pro" panose="020B0504020202020204" pitchFamily="34" charset="77"/>
                <a:ea typeface="Calibri" panose="020F0502020204030204" pitchFamily="34" charset="0"/>
                <a:cs typeface="Calibri" panose="020F0502020204030204" pitchFamily="34" charset="0"/>
              </a:rPr>
              <a:t>: 19-F4300-N72359Q</a:t>
            </a:r>
            <a:endParaRPr lang="fr-FR" dirty="0">
              <a:solidFill>
                <a:schemeClr val="tx1">
                  <a:lumMod val="50000"/>
                  <a:lumOff val="50000"/>
                </a:schemeClr>
              </a:solidFill>
              <a:effectLst/>
              <a:latin typeface="Acumin Pro" panose="020B0504020202020204" pitchFamily="34" charset="77"/>
              <a:ea typeface="Calibri" panose="020F0502020204030204" pitchFamily="34" charset="0"/>
              <a:cs typeface="Times New Roman" panose="02020603050405020304" pitchFamily="18" charset="0"/>
            </a:endParaRPr>
          </a:p>
          <a:p>
            <a:pPr>
              <a:lnSpc>
                <a:spcPct val="100000"/>
              </a:lnSpc>
              <a:spcAft>
                <a:spcPts val="800"/>
              </a:spcAft>
            </a:pPr>
            <a:r>
              <a:rPr lang="fr-FR" b="1" dirty="0">
                <a:solidFill>
                  <a:schemeClr val="tx1">
                    <a:lumMod val="50000"/>
                    <a:lumOff val="50000"/>
                  </a:schemeClr>
                </a:solidFill>
                <a:effectLst/>
                <a:latin typeface="Acumin Pro" panose="020B0504020202020204" pitchFamily="34" charset="77"/>
                <a:ea typeface="Calibri" panose="020F0502020204030204" pitchFamily="34" charset="0"/>
                <a:cs typeface="Calibri" panose="020F0502020204030204" pitchFamily="34" charset="0"/>
              </a:rPr>
              <a:t>Import et Export</a:t>
            </a:r>
            <a:r>
              <a:rPr lang="fr-FR" dirty="0">
                <a:solidFill>
                  <a:schemeClr val="tx1">
                    <a:lumMod val="50000"/>
                    <a:lumOff val="50000"/>
                  </a:schemeClr>
                </a:solidFill>
                <a:effectLst/>
                <a:latin typeface="Acumin Pro" panose="020B0504020202020204" pitchFamily="34" charset="77"/>
                <a:ea typeface="Calibri" panose="020F0502020204030204" pitchFamily="34" charset="0"/>
                <a:cs typeface="Calibri" panose="020F0502020204030204" pitchFamily="34" charset="0"/>
              </a:rPr>
              <a:t> : 0023/CWX-21/I001963NK/Z</a:t>
            </a:r>
          </a:p>
          <a:p>
            <a:pPr>
              <a:lnSpc>
                <a:spcPct val="100000"/>
              </a:lnSpc>
              <a:spcAft>
                <a:spcPts val="800"/>
              </a:spcAft>
            </a:pPr>
            <a:r>
              <a:rPr lang="fr-FR" b="1" dirty="0">
                <a:solidFill>
                  <a:schemeClr val="tx1">
                    <a:lumMod val="50000"/>
                    <a:lumOff val="50000"/>
                  </a:schemeClr>
                </a:solidFill>
                <a:latin typeface="Acumin Pro" panose="020B0504020202020204" pitchFamily="34" charset="77"/>
                <a:ea typeface="Calibri" panose="020F0502020204030204" pitchFamily="34" charset="0"/>
                <a:cs typeface="Calibri" panose="020F0502020204030204" pitchFamily="34" charset="0"/>
              </a:rPr>
              <a:t>Numéro Impôt</a:t>
            </a:r>
            <a:r>
              <a:rPr lang="fr-FR" dirty="0">
                <a:solidFill>
                  <a:schemeClr val="tx1">
                    <a:lumMod val="50000"/>
                    <a:lumOff val="50000"/>
                  </a:schemeClr>
                </a:solidFill>
                <a:latin typeface="Acumin Pro" panose="020B0504020202020204" pitchFamily="34" charset="77"/>
                <a:ea typeface="Calibri" panose="020F0502020204030204" pitchFamily="34" charset="0"/>
                <a:cs typeface="Calibri" panose="020F0502020204030204" pitchFamily="34" charset="0"/>
              </a:rPr>
              <a:t>: A2157625k</a:t>
            </a:r>
            <a:endParaRPr lang="fr-FR" dirty="0">
              <a:solidFill>
                <a:schemeClr val="tx1">
                  <a:lumMod val="50000"/>
                  <a:lumOff val="50000"/>
                </a:schemeClr>
              </a:solidFill>
              <a:effectLst/>
              <a:latin typeface="Acumin Pro" panose="020B0504020202020204" pitchFamily="34" charset="77"/>
              <a:ea typeface="Calibri" panose="020F0502020204030204" pitchFamily="34" charset="0"/>
              <a:cs typeface="Times New Roman" panose="02020603050405020304" pitchFamily="18" charset="0"/>
            </a:endParaRPr>
          </a:p>
          <a:p>
            <a:pPr marL="0" indent="0">
              <a:buNone/>
            </a:pPr>
            <a:endParaRPr lang="fr-FR" dirty="0"/>
          </a:p>
        </p:txBody>
      </p:sp>
      <p:pic>
        <p:nvPicPr>
          <p:cNvPr id="4" name="Picture 3" descr="Logo, company name&#10;&#10;Description automatically generated">
            <a:extLst>
              <a:ext uri="{FF2B5EF4-FFF2-40B4-BE49-F238E27FC236}">
                <a16:creationId xmlns:a16="http://schemas.microsoft.com/office/drawing/2014/main" id="{6DFD7AA4-614D-6E66-15AC-7720564892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76741" y="4916773"/>
            <a:ext cx="2960557" cy="1638197"/>
          </a:xfrm>
          <a:prstGeom prst="rect">
            <a:avLst/>
          </a:prstGeom>
        </p:spPr>
      </p:pic>
    </p:spTree>
    <p:extLst>
      <p:ext uri="{BB962C8B-B14F-4D97-AF65-F5344CB8AC3E}">
        <p14:creationId xmlns:p14="http://schemas.microsoft.com/office/powerpoint/2010/main" val="151416408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36667</TotalTime>
  <Words>1018</Words>
  <Application>Microsoft Office PowerPoint</Application>
  <PresentationFormat>Grand écran</PresentationFormat>
  <Paragraphs>87</Paragraphs>
  <Slides>16</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Acumin Pro</vt:lpstr>
      <vt:lpstr>Arial</vt:lpstr>
      <vt:lpstr>Calibri</vt:lpstr>
      <vt:lpstr>Calibri Light</vt:lpstr>
      <vt:lpstr>Wingdings</vt:lpstr>
      <vt:lpstr>Thème Office</vt:lpstr>
      <vt:lpstr>Présentation PowerPoint</vt:lpstr>
      <vt:lpstr>FORME DE LA SOCIETE</vt:lpstr>
      <vt:lpstr>DENOMINATION DE LA SOCIETE et CREATION</vt:lpstr>
      <vt:lpstr>OBJECT SOCIAL</vt:lpstr>
      <vt:lpstr>#1.Pourquoi sommes nous?</vt:lpstr>
      <vt:lpstr>#1.Pourquoi sommes-nous?</vt:lpstr>
      <vt:lpstr>#2. Comment nous comportons nous?</vt:lpstr>
      <vt:lpstr>#3. Que faisons nous?</vt:lpstr>
      <vt:lpstr>#4. Comment allons-nous réussir?</vt:lpstr>
      <vt:lpstr>#5. Qu’est qui est plus important pour nous maintenant?</vt:lpstr>
      <vt:lpstr>#6. Qui doit faire quoi?</vt:lpstr>
      <vt:lpstr>Notre personnel</vt:lpstr>
      <vt:lpstr>Staffs de BAHARI BENI</vt:lpstr>
      <vt:lpstr>Réalisations depuis la création</vt:lpstr>
      <vt:lpstr>Nos partenaires</vt:lpstr>
      <vt:lpstr>Contacts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David Kavusa</dc:creator>
  <cp:lastModifiedBy>David Muhindo Kavusa</cp:lastModifiedBy>
  <cp:revision>10</cp:revision>
  <dcterms:created xsi:type="dcterms:W3CDTF">2022-03-13T07:45:46Z</dcterms:created>
  <dcterms:modified xsi:type="dcterms:W3CDTF">2024-05-19T15:29:35Z</dcterms:modified>
</cp:coreProperties>
</file>